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7" r:id="rId10"/>
    <p:sldId id="264" r:id="rId11"/>
    <p:sldId id="265" r:id="rId12"/>
  </p:sldIdLst>
  <p:sldSz cx="12192000" cy="6858000" type="screen16x9"/>
  <p:notesSz cx="5143500" cy="9144000"/>
  <p:embeddedFontLst>
    <p:embeddedFont>
      <p:font typeface="华文行楷" panose="02010800040101010101" charset="-122"/>
      <p:regular r:id="rId18"/>
    </p:embeddedFont>
    <p:embeddedFont>
      <p:font typeface="华文新魏" panose="02010800040101010101" charset="-122"/>
      <p:regular r:id="rId19"/>
    </p:embeddedFont>
    <p:embeddedFont>
      <p:font typeface="微软雅黑" panose="020B0503020204020204" charset="-122"/>
      <p:regular r:id="rId20"/>
      <p:bold r:id="rId21"/>
    </p:embeddedFont>
    <p:embeddedFont>
      <p:font typeface="OPPOSans-R" panose="00020600040101010101" charset="-122"/>
      <p:regular r:id="rId22"/>
    </p:embeddedFont>
    <p:embeddedFont>
      <p:font typeface="华文楷体" panose="02010600040101010101" charset="-122"/>
      <p:regular r:id="rId23"/>
    </p:embeddedFont>
    <p:embeddedFont>
      <p:font typeface="OPPOSans-B" panose="00020600040101010101" charset="-122"/>
      <p:regular r:id="rId24"/>
    </p:embeddedFont>
    <p:embeddedFont>
      <p:font typeface="华文彩云" panose="02010800040101010101" charset="-122"/>
      <p:regular r:id="rId25"/>
    </p:embeddedFont>
    <p:embeddedFont>
      <p:font typeface="OPPOSans-M" panose="00020600040101010101" charset="-122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  <p:embeddedFont>
      <p:font typeface="等线" panose="02010600030101010101" charset="-122"/>
      <p:regular r:id="rId31"/>
      <p:bold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font" Target="fonts/font15.fntdata"/><Relationship Id="rId31" Type="http://schemas.openxmlformats.org/officeDocument/2006/relationships/font" Target="fonts/font14.fntdata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3.xml"/><Relationship Id="rId7" Type="http://schemas.openxmlformats.org/officeDocument/2006/relationships/image" Target="../media/image11.png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34.xml"/><Relationship Id="rId41" Type="http://schemas.openxmlformats.org/officeDocument/2006/relationships/tags" Target="../tags/tag33.xml"/><Relationship Id="rId40" Type="http://schemas.openxmlformats.org/officeDocument/2006/relationships/tags" Target="../tags/tag32.xml"/><Relationship Id="rId4" Type="http://schemas.openxmlformats.org/officeDocument/2006/relationships/image" Target="../media/image10.png"/><Relationship Id="rId39" Type="http://schemas.openxmlformats.org/officeDocument/2006/relationships/tags" Target="../tags/tag31.xml"/><Relationship Id="rId38" Type="http://schemas.openxmlformats.org/officeDocument/2006/relationships/tags" Target="../tags/tag30.xml"/><Relationship Id="rId37" Type="http://schemas.openxmlformats.org/officeDocument/2006/relationships/tags" Target="../tags/tag29.xml"/><Relationship Id="rId36" Type="http://schemas.openxmlformats.org/officeDocument/2006/relationships/tags" Target="../tags/tag28.xml"/><Relationship Id="rId35" Type="http://schemas.openxmlformats.org/officeDocument/2006/relationships/tags" Target="../tags/tag27.xml"/><Relationship Id="rId34" Type="http://schemas.openxmlformats.org/officeDocument/2006/relationships/tags" Target="../tags/tag26.xml"/><Relationship Id="rId33" Type="http://schemas.openxmlformats.org/officeDocument/2006/relationships/tags" Target="../tags/tag25.xml"/><Relationship Id="rId32" Type="http://schemas.openxmlformats.org/officeDocument/2006/relationships/tags" Target="../tags/tag24.xml"/><Relationship Id="rId31" Type="http://schemas.openxmlformats.org/officeDocument/2006/relationships/tags" Target="../tags/tag23.xml"/><Relationship Id="rId30" Type="http://schemas.openxmlformats.org/officeDocument/2006/relationships/tags" Target="../tags/tag22.xml"/><Relationship Id="rId3" Type="http://schemas.openxmlformats.org/officeDocument/2006/relationships/image" Target="../media/image9.png"/><Relationship Id="rId29" Type="http://schemas.openxmlformats.org/officeDocument/2006/relationships/tags" Target="../tags/tag21.xml"/><Relationship Id="rId28" Type="http://schemas.openxmlformats.org/officeDocument/2006/relationships/tags" Target="../tags/tag20.xml"/><Relationship Id="rId27" Type="http://schemas.openxmlformats.org/officeDocument/2006/relationships/tags" Target="../tags/tag19.xml"/><Relationship Id="rId26" Type="http://schemas.openxmlformats.org/officeDocument/2006/relationships/tags" Target="../tags/tag18.xml"/><Relationship Id="rId25" Type="http://schemas.openxmlformats.org/officeDocument/2006/relationships/tags" Target="../tags/tag17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image" Target="../media/image8.png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tags" Target="../tags/tag9.xml"/><Relationship Id="rId16" Type="http://schemas.openxmlformats.org/officeDocument/2006/relationships/tags" Target="../tags/tag8.xml"/><Relationship Id="rId15" Type="http://schemas.openxmlformats.org/officeDocument/2006/relationships/image" Target="../media/image14.png"/><Relationship Id="rId14" Type="http://schemas.openxmlformats.org/officeDocument/2006/relationships/tags" Target="../tags/tag7.xml"/><Relationship Id="rId13" Type="http://schemas.openxmlformats.org/officeDocument/2006/relationships/image" Target="../media/image13.png"/><Relationship Id="rId12" Type="http://schemas.openxmlformats.org/officeDocument/2006/relationships/tags" Target="../tags/tag6.xml"/><Relationship Id="rId11" Type="http://schemas.openxmlformats.org/officeDocument/2006/relationships/tags" Target="../tags/tag5.xml"/><Relationship Id="rId10" Type="http://schemas.openxmlformats.org/officeDocument/2006/relationships/tags" Target="../tags/tag4.xml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1.png"/><Relationship Id="rId7" Type="http://schemas.openxmlformats.org/officeDocument/2006/relationships/image" Target="../media/image25.png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image" Target="../media/image24.png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7.jpeg"/><Relationship Id="rId1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tags" Target="../tags/tag41.xml"/><Relationship Id="rId7" Type="http://schemas.openxmlformats.org/officeDocument/2006/relationships/image" Target="../media/image30.png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39.png"/><Relationship Id="rId27" Type="http://schemas.openxmlformats.org/officeDocument/2006/relationships/image" Target="../media/image38.png"/><Relationship Id="rId26" Type="http://schemas.openxmlformats.org/officeDocument/2006/relationships/tags" Target="../tags/tag52.xml"/><Relationship Id="rId25" Type="http://schemas.openxmlformats.org/officeDocument/2006/relationships/tags" Target="../tags/tag51.xml"/><Relationship Id="rId24" Type="http://schemas.openxmlformats.org/officeDocument/2006/relationships/image" Target="../media/image37.png"/><Relationship Id="rId23" Type="http://schemas.openxmlformats.org/officeDocument/2006/relationships/tags" Target="../tags/tag50.xml"/><Relationship Id="rId22" Type="http://schemas.openxmlformats.org/officeDocument/2006/relationships/image" Target="../media/image36.png"/><Relationship Id="rId21" Type="http://schemas.openxmlformats.org/officeDocument/2006/relationships/tags" Target="../tags/tag49.xml"/><Relationship Id="rId20" Type="http://schemas.openxmlformats.org/officeDocument/2006/relationships/image" Target="../media/image35.png"/><Relationship Id="rId2" Type="http://schemas.openxmlformats.org/officeDocument/2006/relationships/image" Target="../media/image29.png"/><Relationship Id="rId19" Type="http://schemas.openxmlformats.org/officeDocument/2006/relationships/tags" Target="../tags/tag48.xml"/><Relationship Id="rId18" Type="http://schemas.openxmlformats.org/officeDocument/2006/relationships/image" Target="../media/image34.png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image" Target="../media/image33.png"/><Relationship Id="rId12" Type="http://schemas.openxmlformats.org/officeDocument/2006/relationships/tags" Target="../tags/tag43.xml"/><Relationship Id="rId11" Type="http://schemas.openxmlformats.org/officeDocument/2006/relationships/image" Target="../media/image32.png"/><Relationship Id="rId10" Type="http://schemas.openxmlformats.org/officeDocument/2006/relationships/tags" Target="../tags/tag42.xml"/><Relationship Id="rId1" Type="http://schemas.openxmlformats.org/officeDocument/2006/relationships/image" Target="../media/image28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9.png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image" Target="../media/image48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.png"/><Relationship Id="rId1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1" name="image 1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02" name="image 102"/>
          <p:cNvPicPr>
            <a:picLocks noChangeAspect="1"/>
          </p:cNvPicPr>
          <p:nvPr/>
        </p:nvPicPr>
        <p:blipFill>
          <a:blip r:embed="rId2">
            <a:alphaModFix amt="36862"/>
          </a:blip>
          <a:srcRect/>
          <a:stretch>
            <a:fillRect/>
          </a:stretch>
        </p:blipFill>
        <p:spPr>
          <a:xfrm>
            <a:off x="196215" y="3924300"/>
            <a:ext cx="7747000" cy="2705100"/>
          </a:xfrm>
          <a:prstGeom prst="rect">
            <a:avLst/>
          </a:prstGeom>
        </p:spPr>
      </p:pic>
      <p:pic>
        <p:nvPicPr>
          <p:cNvPr id="9103" name="image 10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8446" y="454441"/>
            <a:ext cx="354440" cy="151647"/>
          </a:xfrm>
          <a:prstGeom prst="rect">
            <a:avLst/>
          </a:prstGeom>
        </p:spPr>
      </p:pic>
      <p:grpSp>
        <p:nvGrpSpPr>
          <p:cNvPr id="104" name="组合 104"/>
          <p:cNvGrpSpPr/>
          <p:nvPr/>
        </p:nvGrpSpPr>
        <p:grpSpPr>
          <a:xfrm>
            <a:off x="-34706" y="454025"/>
            <a:ext cx="10719851" cy="3835400"/>
            <a:chOff x="-34706" y="454025"/>
            <a:chExt cx="10719851" cy="3835400"/>
          </a:xfrm>
        </p:grpSpPr>
        <p:pic>
          <p:nvPicPr>
            <p:cNvPr id="9105" name="image 105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780109" y="3011231"/>
              <a:ext cx="1739313" cy="911737"/>
            </a:xfrm>
            <a:prstGeom prst="rect">
              <a:avLst/>
            </a:prstGeom>
          </p:spPr>
        </p:pic>
        <p:pic>
          <p:nvPicPr>
            <p:cNvPr id="9106" name="image 106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-34706" y="1394904"/>
              <a:ext cx="2777906" cy="1739846"/>
            </a:xfrm>
            <a:prstGeom prst="rect">
              <a:avLst/>
            </a:prstGeom>
          </p:spPr>
        </p:pic>
        <p:pic>
          <p:nvPicPr>
            <p:cNvPr id="9107" name="image 107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3141345" y="454025"/>
              <a:ext cx="7543800" cy="3835400"/>
            </a:xfrm>
            <a:prstGeom prst="rect">
              <a:avLst/>
            </a:prstGeom>
          </p:spPr>
        </p:pic>
        <p:sp>
          <p:nvSpPr>
            <p:cNvPr id="108" name="Object 108"/>
            <p:cNvSpPr txBox="1"/>
            <p:nvPr/>
          </p:nvSpPr>
          <p:spPr>
            <a:xfrm>
              <a:off x="528331" y="2033270"/>
              <a:ext cx="7964805" cy="92773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5400">
                  <a:solidFill>
                    <a:schemeClr val="bg1"/>
                  </a:solidFill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rPr>
                <a:t>多模态智能售后服务</a:t>
              </a:r>
              <a:r>
                <a:rPr lang="en-US" altLang="zh-CN" sz="5400">
                  <a:solidFill>
                    <a:schemeClr val="bg1"/>
                  </a:solidFill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rPr>
                <a:t>Agen</a:t>
              </a:r>
              <a:r>
                <a:rPr lang="en-US" altLang="zh-CN" sz="5400">
                  <a:solidFill>
                    <a:schemeClr val="bg1"/>
                  </a:solidFill>
                </a:rPr>
                <a:t>t</a:t>
              </a:r>
              <a:endParaRPr lang="en-US" altLang="zh-CN" sz="5400">
                <a:solidFill>
                  <a:schemeClr val="bg1"/>
                </a:solidFill>
              </a:endParaRPr>
            </a:p>
          </p:txBody>
        </p:sp>
        <p:sp>
          <p:nvSpPr>
            <p:cNvPr id="109" name="Object 109"/>
            <p:cNvSpPr txBox="1"/>
            <p:nvPr/>
          </p:nvSpPr>
          <p:spPr>
            <a:xfrm>
              <a:off x="831909" y="3091921"/>
              <a:ext cx="6157595" cy="60896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基于 </a:t>
              </a:r>
              <a:r>
                <a:rPr lang="en-US" altLang="zh-CN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LangGraph </a:t>
              </a:r>
              <a:r>
                <a:rPr lang="zh-CN" altLang="en-US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与豆包大模型（</a:t>
              </a:r>
              <a:r>
                <a:rPr lang="en-US" altLang="zh-CN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Doubao Vision/Embedding）</a:t>
              </a:r>
              <a:endPara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zh-CN" altLang="en-US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华文新魏" panose="02010800040101010101" charset="-122"/>
                  <a:ea typeface="华文新魏" panose="02010800040101010101" charset="-122"/>
                  <a:cs typeface="华文新魏" panose="02010800040101010101" charset="-122"/>
                </a:rPr>
                <a:t>的下一代智能售后自动化系统</a:t>
              </a:r>
              <a:endParaRPr lang="zh-CN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endParaRPr>
            </a:p>
          </p:txBody>
        </p:sp>
        <p:sp>
          <p:nvSpPr>
            <p:cNvPr id="1010" name="Object 1010"/>
            <p:cNvSpPr txBox="1"/>
            <p:nvPr/>
          </p:nvSpPr>
          <p:spPr>
            <a:xfrm>
              <a:off x="3546086" y="4018709"/>
              <a:ext cx="127000" cy="27051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endParaRPr lang="zh-CN" altLang="en-US" sz="16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1" name="image 2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02" name="组合 202"/>
          <p:cNvGrpSpPr/>
          <p:nvPr/>
        </p:nvGrpSpPr>
        <p:grpSpPr>
          <a:xfrm>
            <a:off x="3358451" y="-127000"/>
            <a:ext cx="5613400" cy="2184400"/>
            <a:chOff x="3358451" y="-127000"/>
            <a:chExt cx="5613400" cy="2184400"/>
          </a:xfrm>
        </p:grpSpPr>
        <p:sp>
          <p:nvSpPr>
            <p:cNvPr id="203" name="Object 203"/>
            <p:cNvSpPr txBox="1"/>
            <p:nvPr/>
          </p:nvSpPr>
          <p:spPr>
            <a:xfrm>
              <a:off x="3358451" y="385564"/>
              <a:ext cx="5613400" cy="12954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sz="8500" b="0" i="0" dirty="0" smtClean="0">
                  <a:blipFill>
                    <a:blip r:embed="rId2"/>
                    <a:stretch>
                      <a:fillRect/>
                    </a:stretch>
                  </a:blipFill>
                  <a:latin typeface="AlimamaShuHeiTi"/>
                  <a:ea typeface="AlimamaShuHeiTi"/>
                </a:rPr>
                <a:t>CONTENTS</a:t>
              </a:r>
              <a:endParaRPr lang="zh-CN" altLang="en-US" sz="8500"/>
            </a:p>
          </p:txBody>
        </p:sp>
        <p:pic>
          <p:nvPicPr>
            <p:cNvPr id="9204" name="image 20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5029200" y="-127000"/>
              <a:ext cx="3251200" cy="2184400"/>
            </a:xfrm>
            <a:prstGeom prst="rect">
              <a:avLst/>
            </a:prstGeom>
          </p:spPr>
        </p:pic>
        <p:sp>
          <p:nvSpPr>
            <p:cNvPr id="205" name="Object 205"/>
            <p:cNvSpPr txBox="1"/>
            <p:nvPr/>
          </p:nvSpPr>
          <p:spPr>
            <a:xfrm>
              <a:off x="5422455" y="712298"/>
              <a:ext cx="1371600" cy="8255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sz="5400" b="0" i="0" dirty="0" smtClean="0">
                  <a:blipFill>
                    <a:blip r:embed="rId4"/>
                    <a:stretch>
                      <a:fillRect/>
                    </a:stretch>
                  </a:blipFill>
                  <a:latin typeface="AlimamaShuHeiTi"/>
                  <a:ea typeface="AlimamaShuHeiTi"/>
                </a:rPr>
                <a:t>目录</a:t>
              </a:r>
              <a:endParaRPr lang="zh-CN" altLang="en-US" sz="5400"/>
            </a:p>
          </p:txBody>
        </p:sp>
      </p:grpSp>
      <p:grpSp>
        <p:nvGrpSpPr>
          <p:cNvPr id="206" name="组合 206"/>
          <p:cNvGrpSpPr/>
          <p:nvPr>
            <p:custDataLst>
              <p:tags r:id="rId5"/>
            </p:custDataLst>
          </p:nvPr>
        </p:nvGrpSpPr>
        <p:grpSpPr>
          <a:xfrm>
            <a:off x="342900" y="2101215"/>
            <a:ext cx="1856105" cy="3071495"/>
            <a:chOff x="622299" y="2209800"/>
            <a:chExt cx="2549513" cy="3403600"/>
          </a:xfrm>
        </p:grpSpPr>
        <p:pic>
          <p:nvPicPr>
            <p:cNvPr id="9207" name="image 207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rcRect/>
            <a:stretch>
              <a:fillRect/>
            </a:stretch>
          </p:blipFill>
          <p:spPr>
            <a:xfrm>
              <a:off x="622299" y="2209800"/>
              <a:ext cx="2549513" cy="3403600"/>
            </a:xfrm>
            <a:prstGeom prst="rect">
              <a:avLst/>
            </a:prstGeom>
          </p:spPr>
        </p:pic>
        <p:sp>
          <p:nvSpPr>
            <p:cNvPr id="208" name="Object 208"/>
            <p:cNvSpPr txBox="1"/>
            <p:nvPr>
              <p:custDataLst>
                <p:tags r:id="rId8"/>
              </p:custDataLst>
            </p:nvPr>
          </p:nvSpPr>
          <p:spPr>
            <a:xfrm>
              <a:off x="873500" y="2537705"/>
              <a:ext cx="1469699" cy="88168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sz="4500" b="0" i="0" dirty="0" smtClean="0">
                  <a:blipFill>
                    <a:blip r:embed="rId9"/>
                    <a:stretch>
                      <a:fillRect/>
                    </a:stretch>
                  </a:blipFill>
                  <a:latin typeface="AlimamaShuHeiTi"/>
                  <a:ea typeface="AlimamaShuHeiTi"/>
                </a:rPr>
                <a:t>01</a:t>
              </a:r>
              <a:endParaRPr lang="zh-CN" altLang="en-US" sz="4500"/>
            </a:p>
          </p:txBody>
        </p:sp>
        <p:sp>
          <p:nvSpPr>
            <p:cNvPr id="209" name="Object 209"/>
            <p:cNvSpPr txBox="1"/>
            <p:nvPr>
              <p:custDataLst>
                <p:tags r:id="rId10"/>
              </p:custDataLst>
            </p:nvPr>
          </p:nvSpPr>
          <p:spPr>
            <a:xfrm>
              <a:off x="872628" y="3670597"/>
              <a:ext cx="2247723" cy="8352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8000"/>
                </a:lnSpc>
              </a:pPr>
              <a:r>
                <a:rPr lang="zh-CN" altLang="en-US" sz="2200" b="1">
                  <a:solidFill>
                    <a:schemeClr val="bg1"/>
                  </a:solidFill>
                </a:rPr>
                <a:t>产品概述与定位</a:t>
              </a:r>
              <a:endParaRPr lang="zh-CN" altLang="en-US" sz="2200" b="1">
                <a:solidFill>
                  <a:schemeClr val="bg1"/>
                </a:solidFill>
              </a:endParaRPr>
            </a:p>
          </p:txBody>
        </p:sp>
        <p:sp>
          <p:nvSpPr>
            <p:cNvPr id="2010" name="Object 2010"/>
            <p:cNvSpPr txBox="1"/>
            <p:nvPr>
              <p:custDataLst>
                <p:tags r:id="rId11"/>
              </p:custDataLst>
            </p:nvPr>
          </p:nvSpPr>
          <p:spPr>
            <a:xfrm>
              <a:off x="875120" y="4506137"/>
              <a:ext cx="2247900" cy="24065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18000"/>
                </a:lnSpc>
              </a:pPr>
              <a:endParaRPr lang="zh-CN" altLang="en-US" sz="1200"/>
            </a:p>
          </p:txBody>
        </p:sp>
        <p:pic>
          <p:nvPicPr>
            <p:cNvPr id="92011" name="image 2011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rcRect/>
            <a:stretch>
              <a:fillRect/>
            </a:stretch>
          </p:blipFill>
          <p:spPr>
            <a:xfrm>
              <a:off x="1569547" y="3023355"/>
              <a:ext cx="101535" cy="114286"/>
            </a:xfrm>
            <a:prstGeom prst="rect">
              <a:avLst/>
            </a:prstGeom>
          </p:spPr>
        </p:pic>
        <p:pic>
          <p:nvPicPr>
            <p:cNvPr id="92012" name="image 2012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rcRect/>
            <a:stretch>
              <a:fillRect/>
            </a:stretch>
          </p:blipFill>
          <p:spPr>
            <a:xfrm>
              <a:off x="910364" y="3419434"/>
              <a:ext cx="1981200" cy="25400"/>
            </a:xfrm>
            <a:prstGeom prst="rect">
              <a:avLst/>
            </a:prstGeom>
          </p:spPr>
        </p:pic>
      </p:grpSp>
      <p:grpSp>
        <p:nvGrpSpPr>
          <p:cNvPr id="2013" name="组合 2013"/>
          <p:cNvGrpSpPr/>
          <p:nvPr>
            <p:custDataLst>
              <p:tags r:id="rId16"/>
            </p:custDataLst>
          </p:nvPr>
        </p:nvGrpSpPr>
        <p:grpSpPr>
          <a:xfrm>
            <a:off x="2312035" y="2052955"/>
            <a:ext cx="2239645" cy="3071495"/>
            <a:chOff x="3390900" y="2203450"/>
            <a:chExt cx="2549513" cy="3403600"/>
          </a:xfrm>
        </p:grpSpPr>
        <p:pic>
          <p:nvPicPr>
            <p:cNvPr id="92014" name="image 2014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7"/>
            <a:srcRect/>
            <a:stretch>
              <a:fillRect/>
            </a:stretch>
          </p:blipFill>
          <p:spPr>
            <a:xfrm>
              <a:off x="3390900" y="2203450"/>
              <a:ext cx="2549513" cy="3403600"/>
            </a:xfrm>
            <a:prstGeom prst="rect">
              <a:avLst/>
            </a:prstGeom>
          </p:spPr>
        </p:pic>
        <p:sp>
          <p:nvSpPr>
            <p:cNvPr id="2015" name="Object 2015"/>
            <p:cNvSpPr txBox="1"/>
            <p:nvPr>
              <p:custDataLst>
                <p:tags r:id="rId18"/>
              </p:custDataLst>
            </p:nvPr>
          </p:nvSpPr>
          <p:spPr>
            <a:xfrm>
              <a:off x="3641731" y="2537688"/>
              <a:ext cx="1259938" cy="847206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sz="4500" b="0" i="0" dirty="0" smtClean="0">
                  <a:blipFill>
                    <a:blip r:embed="rId9"/>
                    <a:stretch>
                      <a:fillRect/>
                    </a:stretch>
                  </a:blipFill>
                  <a:latin typeface="AlimamaShuHeiTi"/>
                  <a:ea typeface="AlimamaShuHeiTi"/>
                </a:rPr>
                <a:t>02</a:t>
              </a:r>
              <a:endParaRPr lang="zh-CN" altLang="en-US" sz="4500"/>
            </a:p>
          </p:txBody>
        </p:sp>
        <p:sp>
          <p:nvSpPr>
            <p:cNvPr id="2016" name="Object 2016"/>
            <p:cNvSpPr txBox="1"/>
            <p:nvPr>
              <p:custDataLst>
                <p:tags r:id="rId19"/>
              </p:custDataLst>
            </p:nvPr>
          </p:nvSpPr>
          <p:spPr>
            <a:xfrm>
              <a:off x="3642339" y="3653269"/>
              <a:ext cx="1955800" cy="88520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18000"/>
                </a:lnSpc>
              </a:pPr>
              <a:r>
                <a:rPr lang="zh-CN" altLang="en-US" sz="2200">
                  <a:solidFill>
                    <a:schemeClr val="bg1"/>
                  </a:solidFill>
                </a:rPr>
                <a:t>核心特色与技术创新</a:t>
              </a:r>
              <a:endParaRPr lang="zh-CN" altLang="en-US" sz="2200">
                <a:solidFill>
                  <a:schemeClr val="bg1"/>
                </a:solidFill>
              </a:endParaRPr>
            </a:p>
          </p:txBody>
        </p:sp>
        <p:sp>
          <p:nvSpPr>
            <p:cNvPr id="2017" name="Object 2017"/>
            <p:cNvSpPr txBox="1"/>
            <p:nvPr>
              <p:custDataLst>
                <p:tags r:id="rId20"/>
              </p:custDataLst>
            </p:nvPr>
          </p:nvSpPr>
          <p:spPr>
            <a:xfrm>
              <a:off x="3642982" y="4506137"/>
              <a:ext cx="2247900" cy="24065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18000"/>
                </a:lnSpc>
              </a:pPr>
              <a:endParaRPr lang="zh-CN" altLang="en-US" sz="1200"/>
            </a:p>
          </p:txBody>
        </p:sp>
        <p:pic>
          <p:nvPicPr>
            <p:cNvPr id="92018" name="image 2018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3"/>
            <a:srcRect/>
            <a:stretch>
              <a:fillRect/>
            </a:stretch>
          </p:blipFill>
          <p:spPr>
            <a:xfrm>
              <a:off x="4389106" y="3023355"/>
              <a:ext cx="98509" cy="114286"/>
            </a:xfrm>
            <a:prstGeom prst="rect">
              <a:avLst/>
            </a:prstGeom>
          </p:spPr>
        </p:pic>
        <p:pic>
          <p:nvPicPr>
            <p:cNvPr id="92019" name="image 2019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5"/>
            <a:srcRect/>
            <a:stretch>
              <a:fillRect/>
            </a:stretch>
          </p:blipFill>
          <p:spPr>
            <a:xfrm>
              <a:off x="3668706" y="3419434"/>
              <a:ext cx="1981200" cy="25400"/>
            </a:xfrm>
            <a:prstGeom prst="rect">
              <a:avLst/>
            </a:prstGeom>
          </p:spPr>
        </p:pic>
      </p:grpSp>
      <p:grpSp>
        <p:nvGrpSpPr>
          <p:cNvPr id="2020" name="组合 2020"/>
          <p:cNvGrpSpPr/>
          <p:nvPr>
            <p:custDataLst>
              <p:tags r:id="rId23"/>
            </p:custDataLst>
          </p:nvPr>
        </p:nvGrpSpPr>
        <p:grpSpPr>
          <a:xfrm>
            <a:off x="4664710" y="2150110"/>
            <a:ext cx="2305685" cy="3067685"/>
            <a:chOff x="6146800" y="2209800"/>
            <a:chExt cx="2549513" cy="3403600"/>
          </a:xfrm>
        </p:grpSpPr>
        <p:pic>
          <p:nvPicPr>
            <p:cNvPr id="92021" name="image 202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7"/>
            <a:srcRect/>
            <a:stretch>
              <a:fillRect/>
            </a:stretch>
          </p:blipFill>
          <p:spPr>
            <a:xfrm>
              <a:off x="6146800" y="2209800"/>
              <a:ext cx="2549513" cy="3403600"/>
            </a:xfrm>
            <a:prstGeom prst="rect">
              <a:avLst/>
            </a:prstGeom>
          </p:spPr>
        </p:pic>
        <p:sp>
          <p:nvSpPr>
            <p:cNvPr id="2022" name="Object 2022"/>
            <p:cNvSpPr txBox="1"/>
            <p:nvPr>
              <p:custDataLst>
                <p:tags r:id="rId25"/>
              </p:custDataLst>
            </p:nvPr>
          </p:nvSpPr>
          <p:spPr>
            <a:xfrm>
              <a:off x="6398170" y="2538112"/>
              <a:ext cx="1475221" cy="82782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sz="4500" b="0" i="0" dirty="0" smtClean="0">
                  <a:blipFill>
                    <a:blip r:embed="rId9"/>
                    <a:stretch>
                      <a:fillRect/>
                    </a:stretch>
                  </a:blipFill>
                  <a:latin typeface="AlimamaShuHeiTi"/>
                  <a:ea typeface="AlimamaShuHeiTi"/>
                </a:rPr>
                <a:t>03</a:t>
              </a:r>
              <a:endParaRPr lang="zh-CN" altLang="en-US" sz="4500"/>
            </a:p>
          </p:txBody>
        </p:sp>
        <p:sp>
          <p:nvSpPr>
            <p:cNvPr id="2023" name="Object 2023"/>
            <p:cNvSpPr txBox="1"/>
            <p:nvPr>
              <p:custDataLst>
                <p:tags r:id="rId26"/>
              </p:custDataLst>
            </p:nvPr>
          </p:nvSpPr>
          <p:spPr>
            <a:xfrm>
              <a:off x="6411106" y="3653269"/>
              <a:ext cx="2044700" cy="44315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18000"/>
                </a:lnSpc>
              </a:pPr>
              <a:r>
                <a:rPr lang="zh-CN" altLang="en-US" sz="2200">
                  <a:solidFill>
                    <a:schemeClr val="bg1"/>
                  </a:solidFill>
                </a:rPr>
                <a:t>系统架构设计</a:t>
              </a:r>
              <a:endParaRPr lang="zh-CN" altLang="en-US" sz="2200">
                <a:solidFill>
                  <a:schemeClr val="bg1"/>
                </a:solidFill>
              </a:endParaRPr>
            </a:p>
          </p:txBody>
        </p:sp>
        <p:sp>
          <p:nvSpPr>
            <p:cNvPr id="2024" name="Object 2024"/>
            <p:cNvSpPr txBox="1"/>
            <p:nvPr>
              <p:custDataLst>
                <p:tags r:id="rId27"/>
              </p:custDataLst>
            </p:nvPr>
          </p:nvSpPr>
          <p:spPr>
            <a:xfrm>
              <a:off x="6400357" y="4506137"/>
              <a:ext cx="2247900" cy="24095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18000"/>
                </a:lnSpc>
              </a:pPr>
              <a:endParaRPr lang="zh-CN" altLang="en-US" sz="1200"/>
            </a:p>
          </p:txBody>
        </p:sp>
        <p:pic>
          <p:nvPicPr>
            <p:cNvPr id="92025" name="image 2025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3"/>
            <a:srcRect/>
            <a:stretch>
              <a:fillRect/>
            </a:stretch>
          </p:blipFill>
          <p:spPr>
            <a:xfrm>
              <a:off x="7132459" y="3023355"/>
              <a:ext cx="101540" cy="114286"/>
            </a:xfrm>
            <a:prstGeom prst="rect">
              <a:avLst/>
            </a:prstGeom>
          </p:spPr>
        </p:pic>
        <p:pic>
          <p:nvPicPr>
            <p:cNvPr id="92026" name="image 2026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5"/>
            <a:srcRect/>
            <a:stretch>
              <a:fillRect/>
            </a:stretch>
          </p:blipFill>
          <p:spPr>
            <a:xfrm>
              <a:off x="6439748" y="3419434"/>
              <a:ext cx="1981200" cy="25400"/>
            </a:xfrm>
            <a:prstGeom prst="rect">
              <a:avLst/>
            </a:prstGeom>
          </p:spPr>
        </p:pic>
      </p:grpSp>
      <p:grpSp>
        <p:nvGrpSpPr>
          <p:cNvPr id="2027" name="组合 2027"/>
          <p:cNvGrpSpPr/>
          <p:nvPr>
            <p:custDataLst>
              <p:tags r:id="rId30"/>
            </p:custDataLst>
          </p:nvPr>
        </p:nvGrpSpPr>
        <p:grpSpPr>
          <a:xfrm>
            <a:off x="2494437" y="2226945"/>
            <a:ext cx="7028658" cy="3004820"/>
            <a:chOff x="9168957" y="2209800"/>
            <a:chExt cx="7519299" cy="3403600"/>
          </a:xfrm>
        </p:grpSpPr>
        <p:pic>
          <p:nvPicPr>
            <p:cNvPr id="92028" name="image 2028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7"/>
            <a:srcRect/>
            <a:stretch>
              <a:fillRect/>
            </a:stretch>
          </p:blipFill>
          <p:spPr>
            <a:xfrm>
              <a:off x="14138743" y="2209800"/>
              <a:ext cx="2549513" cy="3403600"/>
            </a:xfrm>
            <a:prstGeom prst="rect">
              <a:avLst/>
            </a:prstGeom>
          </p:spPr>
        </p:pic>
        <p:sp>
          <p:nvSpPr>
            <p:cNvPr id="2029" name="Object 2029"/>
            <p:cNvSpPr txBox="1"/>
            <p:nvPr>
              <p:custDataLst>
                <p:tags r:id="rId32"/>
              </p:custDataLst>
            </p:nvPr>
          </p:nvSpPr>
          <p:spPr>
            <a:xfrm>
              <a:off x="14284119" y="2595331"/>
              <a:ext cx="1213957" cy="83363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sz="4500" b="0" i="0" dirty="0" smtClean="0">
                  <a:blipFill>
                    <a:blip r:embed="rId9"/>
                    <a:stretch>
                      <a:fillRect/>
                    </a:stretch>
                  </a:blipFill>
                  <a:latin typeface="AlimamaShuHeiTi"/>
                  <a:ea typeface="AlimamaShuHeiTi"/>
                </a:rPr>
                <a:t>04</a:t>
              </a:r>
              <a:endParaRPr lang="zh-CN" altLang="en-US" sz="4500"/>
            </a:p>
          </p:txBody>
        </p:sp>
        <p:sp>
          <p:nvSpPr>
            <p:cNvPr id="2030" name="Object 2030"/>
            <p:cNvSpPr txBox="1"/>
            <p:nvPr>
              <p:custDataLst>
                <p:tags r:id="rId33"/>
              </p:custDataLst>
            </p:nvPr>
          </p:nvSpPr>
          <p:spPr>
            <a:xfrm>
              <a:off x="14207523" y="3666328"/>
              <a:ext cx="2353188" cy="90484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18000"/>
                </a:lnSpc>
              </a:pPr>
              <a:r>
                <a:rPr lang="zh-CN" altLang="en-US" sz="2200">
                  <a:solidFill>
                    <a:schemeClr val="bg1"/>
                  </a:solidFill>
                </a:rPr>
                <a:t>使用流程与快速演示</a:t>
              </a:r>
              <a:endParaRPr lang="zh-CN" altLang="en-US" sz="2200">
                <a:solidFill>
                  <a:schemeClr val="bg1"/>
                </a:solidFill>
              </a:endParaRPr>
            </a:p>
          </p:txBody>
        </p:sp>
        <p:sp>
          <p:nvSpPr>
            <p:cNvPr id="2031" name="Object 2031"/>
            <p:cNvSpPr txBox="1"/>
            <p:nvPr>
              <p:custDataLst>
                <p:tags r:id="rId34"/>
              </p:custDataLst>
            </p:nvPr>
          </p:nvSpPr>
          <p:spPr>
            <a:xfrm>
              <a:off x="9168957" y="4506137"/>
              <a:ext cx="2247900" cy="24599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18000"/>
                </a:lnSpc>
              </a:pPr>
              <a:endParaRPr lang="zh-CN" altLang="en-US" sz="1200"/>
            </a:p>
          </p:txBody>
        </p:sp>
        <p:pic>
          <p:nvPicPr>
            <p:cNvPr id="92033" name="image 2033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15"/>
            <a:srcRect/>
            <a:stretch>
              <a:fillRect/>
            </a:stretch>
          </p:blipFill>
          <p:spPr>
            <a:xfrm>
              <a:off x="14422595" y="3383686"/>
              <a:ext cx="1981200" cy="25400"/>
            </a:xfrm>
            <a:prstGeom prst="rect">
              <a:avLst/>
            </a:prstGeom>
          </p:spPr>
        </p:pic>
      </p:grpSp>
      <p:grpSp>
        <p:nvGrpSpPr>
          <p:cNvPr id="2" name="组合 2013"/>
          <p:cNvGrpSpPr/>
          <p:nvPr>
            <p:custDataLst>
              <p:tags r:id="rId36"/>
            </p:custDataLst>
          </p:nvPr>
        </p:nvGrpSpPr>
        <p:grpSpPr>
          <a:xfrm>
            <a:off x="4353546" y="2286000"/>
            <a:ext cx="7545719" cy="2945765"/>
            <a:chOff x="4389106" y="1605915"/>
            <a:chExt cx="7545719" cy="2945765"/>
          </a:xfrm>
        </p:grpSpPr>
        <p:pic>
          <p:nvPicPr>
            <p:cNvPr id="3" name="image 2014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7"/>
            <a:srcRect/>
            <a:stretch>
              <a:fillRect/>
            </a:stretch>
          </p:blipFill>
          <p:spPr>
            <a:xfrm>
              <a:off x="9728200" y="1605915"/>
              <a:ext cx="2206625" cy="2945765"/>
            </a:xfrm>
            <a:prstGeom prst="rect">
              <a:avLst/>
            </a:prstGeom>
          </p:spPr>
        </p:pic>
        <p:sp>
          <p:nvSpPr>
            <p:cNvPr id="4" name="Object 2015"/>
            <p:cNvSpPr txBox="1"/>
            <p:nvPr>
              <p:custDataLst>
                <p:tags r:id="rId38"/>
              </p:custDataLst>
            </p:nvPr>
          </p:nvSpPr>
          <p:spPr>
            <a:xfrm>
              <a:off x="10075148" y="1815905"/>
              <a:ext cx="834390" cy="76136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sz="4500" b="0" i="0" dirty="0" smtClean="0">
                  <a:blipFill>
                    <a:blip r:embed="rId9"/>
                    <a:stretch>
                      <a:fillRect/>
                    </a:stretch>
                  </a:blipFill>
                  <a:latin typeface="AlimamaShuHeiTi"/>
                  <a:ea typeface="AlimamaShuHeiTi"/>
                </a:rPr>
                <a:t>0</a:t>
              </a:r>
              <a:r>
                <a:rPr lang="en-US" altLang="zh-CN" sz="4500" b="0" i="0" dirty="0" smtClean="0">
                  <a:blipFill>
                    <a:blip r:embed="rId9"/>
                    <a:stretch>
                      <a:fillRect/>
                    </a:stretch>
                  </a:blipFill>
                  <a:latin typeface="AlimamaShuHeiTi"/>
                  <a:ea typeface="AlimamaShuHeiTi"/>
                </a:rPr>
                <a:t>5</a:t>
              </a:r>
              <a:endParaRPr lang="en-US" altLang="zh-CN" sz="4500" b="0" i="0" dirty="0" smtClean="0">
                <a:blipFill>
                  <a:blip r:embed="rId9"/>
                  <a:stretch>
                    <a:fillRect/>
                  </a:stretch>
                </a:blipFill>
                <a:latin typeface="AlimamaShuHeiTi"/>
                <a:ea typeface="AlimamaShuHeiTi"/>
              </a:endParaRPr>
            </a:p>
          </p:txBody>
        </p:sp>
        <p:sp>
          <p:nvSpPr>
            <p:cNvPr id="5" name="Object 2016"/>
            <p:cNvSpPr txBox="1"/>
            <p:nvPr>
              <p:custDataLst>
                <p:tags r:id="rId39"/>
              </p:custDataLst>
            </p:nvPr>
          </p:nvSpPr>
          <p:spPr>
            <a:xfrm>
              <a:off x="9868521" y="2851150"/>
              <a:ext cx="1955800" cy="82486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8000"/>
                </a:lnSpc>
              </a:pPr>
              <a:r>
                <a:rPr lang="zh-CN" altLang="en-US" sz="2200">
                  <a:solidFill>
                    <a:schemeClr val="bg1"/>
                  </a:solidFill>
                </a:rPr>
                <a:t>局限性与改进规划</a:t>
              </a:r>
              <a:endParaRPr lang="zh-CN" altLang="en-US" sz="2200">
                <a:solidFill>
                  <a:schemeClr val="bg1"/>
                </a:solidFill>
              </a:endParaRPr>
            </a:p>
          </p:txBody>
        </p:sp>
        <p:sp>
          <p:nvSpPr>
            <p:cNvPr id="6" name="Object 2017"/>
            <p:cNvSpPr txBox="1"/>
            <p:nvPr>
              <p:custDataLst>
                <p:tags r:id="rId40"/>
              </p:custDataLst>
            </p:nvPr>
          </p:nvSpPr>
          <p:spPr>
            <a:xfrm flipH="1">
              <a:off x="9772001" y="3632200"/>
              <a:ext cx="2139315" cy="68643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8000"/>
                </a:lnSpc>
              </a:pPr>
              <a:endParaRPr lang="zh-CN" altLang="en-US" sz="1200"/>
            </a:p>
          </p:txBody>
        </p:sp>
        <p:pic>
          <p:nvPicPr>
            <p:cNvPr id="7" name="image 2018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13"/>
            <a:srcRect/>
            <a:stretch>
              <a:fillRect/>
            </a:stretch>
          </p:blipFill>
          <p:spPr>
            <a:xfrm>
              <a:off x="4389106" y="3023355"/>
              <a:ext cx="98509" cy="114286"/>
            </a:xfrm>
            <a:prstGeom prst="rect">
              <a:avLst/>
            </a:prstGeom>
          </p:spPr>
        </p:pic>
        <p:pic>
          <p:nvPicPr>
            <p:cNvPr id="8" name="image 2019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15"/>
            <a:srcRect/>
            <a:stretch>
              <a:fillRect/>
            </a:stretch>
          </p:blipFill>
          <p:spPr>
            <a:xfrm>
              <a:off x="9868846" y="2713949"/>
              <a:ext cx="1981200" cy="25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01" name="image 3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64770" y="0"/>
            <a:ext cx="12192000" cy="6858000"/>
          </a:xfrm>
          <a:prstGeom prst="rect">
            <a:avLst/>
          </a:prstGeom>
        </p:spPr>
      </p:pic>
      <p:grpSp>
        <p:nvGrpSpPr>
          <p:cNvPr id="302" name="组合 302"/>
          <p:cNvGrpSpPr/>
          <p:nvPr/>
        </p:nvGrpSpPr>
        <p:grpSpPr>
          <a:xfrm>
            <a:off x="79763" y="771578"/>
            <a:ext cx="10600937" cy="2403422"/>
            <a:chOff x="79763" y="771578"/>
            <a:chExt cx="10600937" cy="2403422"/>
          </a:xfrm>
        </p:grpSpPr>
        <p:pic>
          <p:nvPicPr>
            <p:cNvPr id="9303" name="image 303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7429500" y="990600"/>
              <a:ext cx="3251200" cy="2184400"/>
            </a:xfrm>
            <a:prstGeom prst="rect">
              <a:avLst/>
            </a:prstGeom>
          </p:spPr>
        </p:pic>
        <p:sp>
          <p:nvSpPr>
            <p:cNvPr id="304" name="Object 304"/>
            <p:cNvSpPr txBox="1"/>
            <p:nvPr/>
          </p:nvSpPr>
          <p:spPr>
            <a:xfrm>
              <a:off x="4196468" y="1864413"/>
              <a:ext cx="3860800" cy="33909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ctr">
                <a:lnSpc>
                  <a:spcPct val="118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面向消费电子的垂类多模态智能售后 </a:t>
              </a:r>
              <a:r>
                <a:rPr lang="en-US" altLang="zh-CN" sz="1600">
                  <a:solidFill>
                    <a:schemeClr val="bg1"/>
                  </a:solidFill>
                </a:rPr>
                <a:t>Agent</a:t>
              </a:r>
              <a:endParaRPr lang="en-US" altLang="zh-CN" sz="1600">
                <a:solidFill>
                  <a:schemeClr val="bg1"/>
                </a:solidFill>
              </a:endParaRPr>
            </a:p>
          </p:txBody>
        </p:sp>
        <p:sp>
          <p:nvSpPr>
            <p:cNvPr id="305" name="Object 305"/>
            <p:cNvSpPr txBox="1"/>
            <p:nvPr/>
          </p:nvSpPr>
          <p:spPr>
            <a:xfrm>
              <a:off x="2207648" y="990018"/>
              <a:ext cx="5110480" cy="98107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5400">
                  <a:solidFill>
                    <a:schemeClr val="bg1"/>
                  </a:solidFill>
                </a:rPr>
                <a:t>产品概述与定位</a:t>
              </a:r>
              <a:endParaRPr lang="zh-CN" altLang="en-US" sz="5400">
                <a:solidFill>
                  <a:schemeClr val="bg1"/>
                </a:solidFill>
              </a:endParaRPr>
            </a:p>
          </p:txBody>
        </p:sp>
        <p:sp>
          <p:nvSpPr>
            <p:cNvPr id="306" name="Object 306"/>
            <p:cNvSpPr txBox="1"/>
            <p:nvPr/>
          </p:nvSpPr>
          <p:spPr>
            <a:xfrm>
              <a:off x="79763" y="771578"/>
              <a:ext cx="2673985" cy="120015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sz="7200" b="0" i="0" dirty="0" smtClean="0">
                  <a:blipFill>
                    <a:blip r:embed="rId3"/>
                    <a:stretch>
                      <a:fillRect/>
                    </a:stretch>
                  </a:blipFill>
                  <a:latin typeface="AlimamaShuHeiTi"/>
                  <a:ea typeface="AlimamaShuHeiTi"/>
                </a:rPr>
                <a:t>01</a:t>
              </a:r>
              <a:endParaRPr lang="zh-CN" altLang="en-US" sz="720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72795" y="2456180"/>
            <a:ext cx="9902190" cy="3924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产品定位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；结合多轮对话、视觉多模态理解、实时知识库检索、历史工单挖掘与业务系统调用的全流程智能客服 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客服成本高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：传统客服难以快速准确判别复杂硬件故障及识别产品型号。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安全风险大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：用户在设备鼓包、发热时盲目排障易引发安全事故。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断层严重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：传统 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Bot 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无法对接后端订单、质保系统，转人工时上下文丢失。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01" name="image 4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02" name="组合 402"/>
          <p:cNvGrpSpPr/>
          <p:nvPr/>
        </p:nvGrpSpPr>
        <p:grpSpPr>
          <a:xfrm>
            <a:off x="454660" y="1153160"/>
            <a:ext cx="11070590" cy="1316355"/>
            <a:chOff x="546100" y="1569233"/>
            <a:chExt cx="10088245" cy="1790065"/>
          </a:xfrm>
        </p:grpSpPr>
        <p:pic>
          <p:nvPicPr>
            <p:cNvPr id="9403" name="image 403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546100" y="1569233"/>
              <a:ext cx="10088245" cy="1790065"/>
            </a:xfrm>
            <a:prstGeom prst="rect">
              <a:avLst/>
            </a:prstGeom>
          </p:spPr>
        </p:pic>
        <p:sp>
          <p:nvSpPr>
            <p:cNvPr id="407" name="Object 407"/>
            <p:cNvSpPr txBox="1"/>
            <p:nvPr/>
          </p:nvSpPr>
          <p:spPr>
            <a:xfrm>
              <a:off x="919332" y="1686671"/>
              <a:ext cx="1719758" cy="43003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1600" b="0" i="0" dirty="0" smtClean="0">
                  <a:solidFill>
                    <a:srgbClr val="FFFFFF"/>
                  </a:solidFill>
                  <a:latin typeface="OPPOSans-R" panose="00020600040101010101" charset="-122"/>
                  <a:ea typeface="OPPOSans-R" panose="00020600040101010101" charset="-122"/>
                </a:rPr>
                <a:t>多模态视觉诊断</a:t>
              </a:r>
              <a:r>
                <a:rPr lang="zh-CN" sz="1600" b="0" i="0" dirty="0" smtClean="0">
                  <a:solidFill>
                    <a:srgbClr val="FFFFFF"/>
                  </a:solidFill>
                  <a:latin typeface="OPPOSans-R" panose="00020600040101010101" charset="-122"/>
                  <a:ea typeface="OPPOSans-R" panose="00020600040101010101" charset="-122"/>
                </a:rPr>
                <a:t>：</a:t>
              </a:r>
              <a:endParaRPr lang="zh-CN" altLang="en-US" sz="1600"/>
            </a:p>
          </p:txBody>
        </p:sp>
      </p:grpSp>
      <p:grpSp>
        <p:nvGrpSpPr>
          <p:cNvPr id="4010" name="组合 4010"/>
          <p:cNvGrpSpPr/>
          <p:nvPr/>
        </p:nvGrpSpPr>
        <p:grpSpPr>
          <a:xfrm>
            <a:off x="454660" y="2639060"/>
            <a:ext cx="11070590" cy="1132840"/>
            <a:chOff x="598169" y="4312013"/>
            <a:chExt cx="11234859" cy="1993900"/>
          </a:xfrm>
        </p:grpSpPr>
        <p:pic>
          <p:nvPicPr>
            <p:cNvPr id="94011" name="image 4011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598169" y="4312013"/>
              <a:ext cx="11234859" cy="1993900"/>
            </a:xfrm>
            <a:prstGeom prst="rect">
              <a:avLst/>
            </a:prstGeom>
          </p:spPr>
        </p:pic>
        <p:sp>
          <p:nvSpPr>
            <p:cNvPr id="4015" name="Object 4015"/>
            <p:cNvSpPr txBox="1"/>
            <p:nvPr/>
          </p:nvSpPr>
          <p:spPr>
            <a:xfrm>
              <a:off x="1014087" y="4517587"/>
              <a:ext cx="3736275" cy="36942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1600" b="0" i="0" dirty="0" smtClean="0">
                  <a:solidFill>
                    <a:srgbClr val="FFFFFF"/>
                  </a:solidFill>
                  <a:latin typeface="OPPOSans-R" panose="00020600040101010101" charset="-122"/>
                  <a:ea typeface="OPPOSans-R" panose="00020600040101010101" charset="-122"/>
                </a:rPr>
                <a:t>高可靠 </a:t>
              </a:r>
              <a:r>
                <a:rPr lang="en-US" altLang="zh-CN" sz="1600" b="0" i="0" dirty="0" smtClean="0">
                  <a:solidFill>
                    <a:srgbClr val="FFFFFF"/>
                  </a:solidFill>
                  <a:latin typeface="OPPOSans-R" panose="00020600040101010101" charset="-122"/>
                  <a:ea typeface="OPPOSans-R" panose="00020600040101010101" charset="-122"/>
                </a:rPr>
                <a:t>LangGraph </a:t>
              </a:r>
              <a:r>
                <a:rPr lang="zh-CN" altLang="en-US" sz="1600" b="0" i="0" dirty="0" smtClean="0">
                  <a:solidFill>
                    <a:srgbClr val="FFFFFF"/>
                  </a:solidFill>
                  <a:latin typeface="OPPOSans-R" panose="00020600040101010101" charset="-122"/>
                  <a:ea typeface="OPPOSans-R" panose="00020600040101010101" charset="-122"/>
                </a:rPr>
                <a:t>流程编排</a:t>
              </a:r>
              <a:r>
                <a:rPr lang="zh-CN" sz="1600" b="0" i="0" dirty="0" smtClean="0">
                  <a:solidFill>
                    <a:srgbClr val="FFFFFF"/>
                  </a:solidFill>
                  <a:latin typeface="OPPOSans-R" panose="00020600040101010101" charset="-122"/>
                  <a:ea typeface="OPPOSans-R" panose="00020600040101010101" charset="-122"/>
                </a:rPr>
                <a:t>：</a:t>
              </a:r>
              <a:endParaRPr lang="zh-CN" altLang="en-US" sz="1600"/>
            </a:p>
          </p:txBody>
        </p:sp>
        <p:sp>
          <p:nvSpPr>
            <p:cNvPr id="4016" name="Object 4016"/>
            <p:cNvSpPr txBox="1"/>
            <p:nvPr/>
          </p:nvSpPr>
          <p:spPr>
            <a:xfrm>
              <a:off x="958208" y="5054137"/>
              <a:ext cx="10514782" cy="119701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状态图架构：使用 </a:t>
              </a:r>
              <a:r>
                <a:rPr lang="en-US" altLang="zh-CN" sz="1600">
                  <a:solidFill>
                    <a:schemeClr val="bg1"/>
                  </a:solidFill>
                </a:rPr>
                <a:t>LangGraph </a:t>
              </a:r>
              <a:r>
                <a:rPr lang="zh-CN" altLang="en-US" sz="1600">
                  <a:solidFill>
                    <a:schemeClr val="bg1"/>
                  </a:solidFill>
                </a:rPr>
                <a:t>明确管理工单状态</a:t>
              </a:r>
              <a:endParaRPr lang="zh-CN" altLang="en-US" sz="1600">
                <a:solidFill>
                  <a:schemeClr val="bg1"/>
                </a:solidFill>
              </a:endParaRPr>
            </a:p>
            <a:p>
              <a:pPr algn="l">
                <a:lnSpc>
                  <a:spcPct val="11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安全闸门 ：全流程实时拦截安全风险，强制中止 </a:t>
              </a:r>
              <a:r>
                <a:rPr lang="en-US" altLang="zh-CN" sz="1600">
                  <a:solidFill>
                    <a:schemeClr val="bg1"/>
                  </a:solidFill>
                </a:rPr>
                <a:t>DIY </a:t>
              </a:r>
              <a:r>
                <a:rPr lang="zh-CN" altLang="en-US" sz="1600">
                  <a:solidFill>
                    <a:schemeClr val="bg1"/>
                  </a:solidFill>
                </a:rPr>
                <a:t>排障并即时升级人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4018" name="组合 4018"/>
          <p:cNvGrpSpPr/>
          <p:nvPr/>
        </p:nvGrpSpPr>
        <p:grpSpPr>
          <a:xfrm>
            <a:off x="521058" y="12700"/>
            <a:ext cx="11197824" cy="1193800"/>
            <a:chOff x="521058" y="12700"/>
            <a:chExt cx="11197824" cy="1193800"/>
          </a:xfrm>
        </p:grpSpPr>
        <p:grpSp>
          <p:nvGrpSpPr>
            <p:cNvPr id="4019" name="组合 4019"/>
            <p:cNvGrpSpPr/>
            <p:nvPr/>
          </p:nvGrpSpPr>
          <p:grpSpPr>
            <a:xfrm>
              <a:off x="521058" y="12700"/>
              <a:ext cx="4228742" cy="1193800"/>
              <a:chOff x="521058" y="12700"/>
              <a:chExt cx="4228742" cy="1193800"/>
            </a:xfrm>
          </p:grpSpPr>
          <p:pic>
            <p:nvPicPr>
              <p:cNvPr id="94020" name="image 4020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2984500" y="12700"/>
                <a:ext cx="1765300" cy="1193800"/>
              </a:xfrm>
              <a:prstGeom prst="rect">
                <a:avLst/>
              </a:prstGeom>
            </p:spPr>
          </p:pic>
          <p:sp>
            <p:nvSpPr>
              <p:cNvPr id="4021" name="Object 4021"/>
              <p:cNvSpPr txBox="1"/>
              <p:nvPr/>
            </p:nvSpPr>
            <p:spPr>
              <a:xfrm>
                <a:off x="521058" y="483327"/>
                <a:ext cx="3429000" cy="507365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rPr lang="zh-CN" altLang="en-US" sz="3000">
                    <a:solidFill>
                      <a:schemeClr val="bg1"/>
                    </a:solidFill>
                    <a:latin typeface="华文新魏" panose="02010800040101010101" charset="-122"/>
                    <a:ea typeface="华文新魏" panose="02010800040101010101" charset="-122"/>
                  </a:rPr>
                  <a:t>核心特色与技术创新</a:t>
                </a:r>
                <a:endParaRPr lang="zh-CN" altLang="en-US" sz="3000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</a:endParaRPr>
              </a:p>
            </p:txBody>
          </p:sp>
        </p:grpSp>
        <p:pic>
          <p:nvPicPr>
            <p:cNvPr id="94022" name="image 4022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42245" y="1067158"/>
              <a:ext cx="11176637" cy="38108"/>
            </a:xfrm>
            <a:prstGeom prst="rect">
              <a:avLst/>
            </a:prstGeom>
          </p:spPr>
        </p:pic>
        <p:pic>
          <p:nvPicPr>
            <p:cNvPr id="94023" name="image 4023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10944040" y="813098"/>
              <a:ext cx="724070" cy="114307"/>
            </a:xfrm>
            <a:prstGeom prst="rect">
              <a:avLst/>
            </a:prstGeom>
          </p:spPr>
        </p:pic>
        <p:sp>
          <p:nvSpPr>
            <p:cNvPr id="4024" name="Object 4024"/>
            <p:cNvSpPr txBox="1"/>
            <p:nvPr/>
          </p:nvSpPr>
          <p:spPr>
            <a:xfrm>
              <a:off x="8597330" y="762201"/>
              <a:ext cx="2273300" cy="1905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zh-CN" sz="1200" b="0" i="1" dirty="0" smtClean="0">
                  <a:solidFill>
                    <a:srgbClr val="179BDA"/>
                  </a:solidFill>
                  <a:latin typeface="OPPOSans-R" panose="00020600040101010101" charset="-122"/>
                  <a:ea typeface="OPPOSans-R" panose="00020600040101010101" charset="-122"/>
                </a:rPr>
                <a:t>AI SHI DAI DE BIAN GE LI LIANG</a:t>
              </a:r>
              <a:endParaRPr lang="zh-CN" altLang="en-US" sz="1200"/>
            </a:p>
          </p:txBody>
        </p:sp>
        <p:sp>
          <p:nvSpPr>
            <p:cNvPr id="4025" name="Object 4025"/>
            <p:cNvSpPr txBox="1"/>
            <p:nvPr/>
          </p:nvSpPr>
          <p:spPr>
            <a:xfrm>
              <a:off x="4368235" y="715511"/>
              <a:ext cx="127000" cy="30416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l">
                <a:lnSpc>
                  <a:spcPct val="110000"/>
                </a:lnSpc>
              </a:pPr>
              <a:endParaRPr lang="zh-CN" altLang="en-US" sz="180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54075" y="1526540"/>
            <a:ext cx="8765540" cy="807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chemeClr val="bg1"/>
                </a:solidFill>
              </a:rPr>
              <a:t>物理识别：自动识别充电宝外观、型号标签（如 </a:t>
            </a:r>
            <a:r>
              <a:rPr lang="en-US" altLang="zh-CN" sz="1600">
                <a:solidFill>
                  <a:schemeClr val="bg1"/>
                </a:solidFill>
              </a:rPr>
              <a:t>A1647/A1689）、</a:t>
            </a:r>
            <a:r>
              <a:rPr lang="zh-CN" altLang="en-US" sz="1600">
                <a:solidFill>
                  <a:schemeClr val="bg1"/>
                </a:solidFill>
              </a:rPr>
              <a:t>接口类型及指示灯状态。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隐患防范：精准判别设备鼓包、漏液、烧焦、变形等安全隐患，拒绝盲目诊断。</a:t>
            </a:r>
            <a:endParaRPr lang="zh-CN" altLang="en-US" sz="1600">
              <a:solidFill>
                <a:schemeClr val="bg1"/>
              </a:solidFill>
            </a:endParaRPr>
          </a:p>
        </p:txBody>
      </p:sp>
      <p:grpSp>
        <p:nvGrpSpPr>
          <p:cNvPr id="3" name="组合 4010"/>
          <p:cNvGrpSpPr/>
          <p:nvPr/>
        </p:nvGrpSpPr>
        <p:grpSpPr>
          <a:xfrm>
            <a:off x="454660" y="3941445"/>
            <a:ext cx="11070590" cy="1472565"/>
            <a:chOff x="546100" y="4165600"/>
            <a:chExt cx="11234859" cy="1993900"/>
          </a:xfrm>
        </p:grpSpPr>
        <p:pic>
          <p:nvPicPr>
            <p:cNvPr id="4" name="image 4011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546100" y="4165600"/>
              <a:ext cx="11234859" cy="1993900"/>
            </a:xfrm>
            <a:prstGeom prst="rect">
              <a:avLst/>
            </a:prstGeom>
          </p:spPr>
        </p:pic>
        <p:sp>
          <p:nvSpPr>
            <p:cNvPr id="5" name="Object 4015"/>
            <p:cNvSpPr txBox="1"/>
            <p:nvPr/>
          </p:nvSpPr>
          <p:spPr>
            <a:xfrm>
              <a:off x="905688" y="4469113"/>
              <a:ext cx="3575255" cy="47805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1600" b="0" i="0" dirty="0" smtClean="0">
                  <a:solidFill>
                    <a:srgbClr val="FFFFFF"/>
                  </a:solidFill>
                  <a:latin typeface="OPPOSans-R" panose="00020600040101010101" charset="-122"/>
                  <a:ea typeface="OPPOSans-R" panose="00020600040101010101" charset="-122"/>
                </a:rPr>
                <a:t>双模型驱动与混合检索</a:t>
              </a:r>
              <a:r>
                <a:rPr lang="zh-CN" sz="1600" b="0" i="0" dirty="0" smtClean="0">
                  <a:solidFill>
                    <a:srgbClr val="FFFFFF"/>
                  </a:solidFill>
                  <a:latin typeface="OPPOSans-R" panose="00020600040101010101" charset="-122"/>
                  <a:ea typeface="OPPOSans-R" panose="00020600040101010101" charset="-122"/>
                </a:rPr>
                <a:t>：</a:t>
              </a:r>
              <a:endParaRPr lang="zh-CN" altLang="en-US" sz="1600"/>
            </a:p>
          </p:txBody>
        </p:sp>
        <p:sp>
          <p:nvSpPr>
            <p:cNvPr id="6" name="Object 4016"/>
            <p:cNvSpPr txBox="1"/>
            <p:nvPr/>
          </p:nvSpPr>
          <p:spPr>
            <a:xfrm>
              <a:off x="952086" y="4877523"/>
              <a:ext cx="10217961" cy="987922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生成与视觉：基于 </a:t>
              </a:r>
              <a:r>
                <a:rPr lang="en-US" altLang="zh-CN" sz="1600">
                  <a:solidFill>
                    <a:schemeClr val="bg1"/>
                  </a:solidFill>
                </a:rPr>
                <a:t>Doubao-Seed-2.1-pro </a:t>
              </a:r>
              <a:r>
                <a:rPr lang="zh-CN" altLang="en-US" sz="1600">
                  <a:solidFill>
                    <a:schemeClr val="bg1"/>
                  </a:solidFill>
                </a:rPr>
                <a:t>开展自然语言对话、情绪洞察与多模态图片分析。</a:t>
              </a:r>
              <a:endParaRPr lang="zh-CN" altLang="en-US" sz="1600">
                <a:solidFill>
                  <a:schemeClr val="bg1"/>
                </a:solidFill>
              </a:endParaRPr>
            </a:p>
            <a:p>
              <a:pPr algn="l">
                <a:lnSpc>
                  <a:spcPct val="11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向量检索：基于 </a:t>
              </a:r>
              <a:r>
                <a:rPr lang="en-US" altLang="zh-CN" sz="1600">
                  <a:solidFill>
                    <a:schemeClr val="bg1"/>
                  </a:solidFill>
                </a:rPr>
                <a:t>Doubao-embedding-vision </a:t>
              </a:r>
              <a:r>
                <a:rPr lang="zh-CN" altLang="en-US" sz="1600">
                  <a:solidFill>
                    <a:schemeClr val="bg1"/>
                  </a:solidFill>
                </a:rPr>
                <a:t>实现官方知识库与历史相似工单的语义匹配。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组合 4010"/>
          <p:cNvGrpSpPr/>
          <p:nvPr/>
        </p:nvGrpSpPr>
        <p:grpSpPr>
          <a:xfrm>
            <a:off x="454660" y="5458460"/>
            <a:ext cx="11045825" cy="1132840"/>
            <a:chOff x="598169" y="4312013"/>
            <a:chExt cx="11234859" cy="1993900"/>
          </a:xfrm>
        </p:grpSpPr>
        <p:pic>
          <p:nvPicPr>
            <p:cNvPr id="8" name="image 4011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598169" y="4312013"/>
              <a:ext cx="11234859" cy="1993900"/>
            </a:xfrm>
            <a:prstGeom prst="rect">
              <a:avLst/>
            </a:prstGeom>
          </p:spPr>
        </p:pic>
        <p:sp>
          <p:nvSpPr>
            <p:cNvPr id="9" name="Object 4015"/>
            <p:cNvSpPr txBox="1"/>
            <p:nvPr/>
          </p:nvSpPr>
          <p:spPr>
            <a:xfrm>
              <a:off x="869471" y="4517662"/>
              <a:ext cx="3880711" cy="3699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 动态情绪感知与业务工具链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10" name="Object 4016"/>
            <p:cNvSpPr txBox="1"/>
            <p:nvPr/>
          </p:nvSpPr>
          <p:spPr>
            <a:xfrm>
              <a:off x="868826" y="5054137"/>
              <a:ext cx="10604614" cy="119701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情绪分级：对“抱怨/投诉/着急”进行情绪等级判定，动态调整话术与响应优先级。</a:t>
              </a:r>
              <a:endParaRPr lang="zh-CN" altLang="en-US" sz="1600">
                <a:solidFill>
                  <a:schemeClr val="bg1"/>
                </a:solidFill>
              </a:endParaRPr>
            </a:p>
            <a:p>
              <a:pPr algn="l">
                <a:lnSpc>
                  <a:spcPct val="11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*工具集成：缝合订单查询、质保资格核查、序列号（</a:t>
              </a:r>
              <a:r>
                <a:rPr lang="en-US" altLang="zh-CN" sz="1600">
                  <a:solidFill>
                    <a:schemeClr val="bg1"/>
                  </a:solidFill>
                </a:rPr>
                <a:t>SN）</a:t>
              </a:r>
              <a:r>
                <a:rPr lang="zh-CN" altLang="en-US" sz="1600">
                  <a:solidFill>
                    <a:schemeClr val="bg1"/>
                  </a:solidFill>
                </a:rPr>
                <a:t>校验与经销商系统对接。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1" name="image 5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48895"/>
            <a:ext cx="12192000" cy="6858000"/>
          </a:xfrm>
          <a:prstGeom prst="rect">
            <a:avLst/>
          </a:prstGeom>
        </p:spPr>
      </p:pic>
      <p:grpSp>
        <p:nvGrpSpPr>
          <p:cNvPr id="507" name="组合 507"/>
          <p:cNvGrpSpPr/>
          <p:nvPr>
            <p:custDataLst>
              <p:tags r:id="rId2"/>
            </p:custDataLst>
          </p:nvPr>
        </p:nvGrpSpPr>
        <p:grpSpPr>
          <a:xfrm>
            <a:off x="558800" y="1149985"/>
            <a:ext cx="11294110" cy="5628640"/>
            <a:chOff x="558800" y="1612900"/>
            <a:chExt cx="5173294" cy="4483100"/>
          </a:xfrm>
        </p:grpSpPr>
        <p:pic>
          <p:nvPicPr>
            <p:cNvPr id="9508" name="image 508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/>
            <a:stretch>
              <a:fillRect/>
            </a:stretch>
          </p:blipFill>
          <p:spPr>
            <a:xfrm>
              <a:off x="558800" y="1612900"/>
              <a:ext cx="5173294" cy="4483100"/>
            </a:xfrm>
            <a:prstGeom prst="rect">
              <a:avLst/>
            </a:prstGeom>
          </p:spPr>
        </p:pic>
        <p:sp>
          <p:nvSpPr>
            <p:cNvPr id="5010" name="Object 5010"/>
            <p:cNvSpPr txBox="1"/>
            <p:nvPr>
              <p:custDataLst>
                <p:tags r:id="rId5"/>
              </p:custDataLst>
            </p:nvPr>
          </p:nvSpPr>
          <p:spPr>
            <a:xfrm>
              <a:off x="888239" y="4873650"/>
              <a:ext cx="4622800" cy="29019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just">
                <a:lnSpc>
                  <a:spcPct val="118000"/>
                </a:lnSpc>
              </a:pPr>
              <a:endParaRPr lang="zh-CN" altLang="en-US" sz="1600"/>
            </a:p>
          </p:txBody>
        </p:sp>
        <p:sp>
          <p:nvSpPr>
            <p:cNvPr id="5011" name="Object 5011"/>
            <p:cNvSpPr txBox="1"/>
            <p:nvPr>
              <p:custDataLst>
                <p:tags r:id="rId6"/>
              </p:custDataLst>
            </p:nvPr>
          </p:nvSpPr>
          <p:spPr>
            <a:xfrm>
              <a:off x="912926" y="4344208"/>
              <a:ext cx="127000" cy="40576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10000"/>
                </a:lnSpc>
              </a:pPr>
              <a:endParaRPr lang="zh-CN" altLang="en-US" sz="2400"/>
            </a:p>
          </p:txBody>
        </p:sp>
      </p:grpSp>
      <p:grpSp>
        <p:nvGrpSpPr>
          <p:cNvPr id="5012" name="组合 5012"/>
          <p:cNvGrpSpPr/>
          <p:nvPr/>
        </p:nvGrpSpPr>
        <p:grpSpPr>
          <a:xfrm>
            <a:off x="393999" y="12700"/>
            <a:ext cx="11325630" cy="1193800"/>
            <a:chOff x="393999" y="12700"/>
            <a:chExt cx="11325630" cy="1193800"/>
          </a:xfrm>
        </p:grpSpPr>
        <p:grpSp>
          <p:nvGrpSpPr>
            <p:cNvPr id="5013" name="组合 5013"/>
            <p:cNvGrpSpPr/>
            <p:nvPr/>
          </p:nvGrpSpPr>
          <p:grpSpPr>
            <a:xfrm>
              <a:off x="393999" y="12700"/>
              <a:ext cx="6013450" cy="1193800"/>
              <a:chOff x="393999" y="12700"/>
              <a:chExt cx="6013450" cy="1193800"/>
            </a:xfrm>
          </p:grpSpPr>
          <p:pic>
            <p:nvPicPr>
              <p:cNvPr id="95014" name="image 5014"/>
              <p:cNvPicPr>
                <a:picLocks noChangeAspect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>
              <a:xfrm>
                <a:off x="2997200" y="12700"/>
                <a:ext cx="1765300" cy="1193800"/>
              </a:xfrm>
              <a:prstGeom prst="rect">
                <a:avLst/>
              </a:prstGeom>
            </p:spPr>
          </p:pic>
          <p:sp>
            <p:nvSpPr>
              <p:cNvPr id="5015" name="Object 5015"/>
              <p:cNvSpPr txBox="1"/>
              <p:nvPr/>
            </p:nvSpPr>
            <p:spPr>
              <a:xfrm>
                <a:off x="393999" y="560278"/>
                <a:ext cx="6013450" cy="507365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rPr lang="zh-CN" altLang="en-US" sz="3000">
                    <a:solidFill>
                      <a:schemeClr val="bg1"/>
                    </a:solidFill>
                    <a:latin typeface="华文新魏" panose="02010800040101010101" charset="-122"/>
                    <a:ea typeface="华文新魏" panose="02010800040101010101" charset="-122"/>
                    <a:cs typeface="华文新魏" panose="02010800040101010101" charset="-122"/>
                  </a:rPr>
                  <a:t>系统架构设计 (</a:t>
                </a:r>
                <a:r>
                  <a:rPr lang="en-US" altLang="zh-CN" sz="3000">
                    <a:solidFill>
                      <a:schemeClr val="bg1"/>
                    </a:solidFill>
                    <a:latin typeface="华文新魏" panose="02010800040101010101" charset="-122"/>
                    <a:ea typeface="华文新魏" panose="02010800040101010101" charset="-122"/>
                    <a:cs typeface="华文新魏" panose="02010800040101010101" charset="-122"/>
                  </a:rPr>
                  <a:t>System Architecture)</a:t>
                </a:r>
                <a:r>
                  <a:rPr lang="en-US" altLang="zh-CN" sz="3000"/>
                  <a:t>*</a:t>
                </a:r>
                <a:endParaRPr lang="en-US" altLang="zh-CN" sz="3000"/>
              </a:p>
            </p:txBody>
          </p:sp>
        </p:grpSp>
        <p:pic>
          <p:nvPicPr>
            <p:cNvPr id="95016" name="image 5016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>
              <a:off x="542992" y="1067158"/>
              <a:ext cx="11176637" cy="38108"/>
            </a:xfrm>
            <a:prstGeom prst="rect">
              <a:avLst/>
            </a:prstGeom>
          </p:spPr>
        </p:pic>
        <p:pic>
          <p:nvPicPr>
            <p:cNvPr id="95017" name="image 5017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>
            <a:xfrm>
              <a:off x="10944787" y="813098"/>
              <a:ext cx="724070" cy="114307"/>
            </a:xfrm>
            <a:prstGeom prst="rect">
              <a:avLst/>
            </a:prstGeom>
          </p:spPr>
        </p:pic>
        <p:sp>
          <p:nvSpPr>
            <p:cNvPr id="5018" name="Object 5018"/>
            <p:cNvSpPr txBox="1"/>
            <p:nvPr/>
          </p:nvSpPr>
          <p:spPr>
            <a:xfrm>
              <a:off x="10815587" y="762201"/>
              <a:ext cx="110490" cy="20256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zh-CN" sz="1200" b="0" i="1" dirty="0" smtClean="0">
                  <a:solidFill>
                    <a:srgbClr val="179BDA"/>
                  </a:solidFill>
                  <a:latin typeface="OPPOSans-R" panose="00020600040101010101" charset="-122"/>
                  <a:ea typeface="OPPOSans-R" panose="00020600040101010101" charset="-122"/>
                </a:rPr>
                <a:t>JI</a:t>
              </a:r>
              <a:endParaRPr lang="zh-CN" altLang="en-US" sz="1200"/>
            </a:p>
          </p:txBody>
        </p:sp>
        <p:sp>
          <p:nvSpPr>
            <p:cNvPr id="5019" name="Object 5019"/>
            <p:cNvSpPr txBox="1"/>
            <p:nvPr/>
          </p:nvSpPr>
          <p:spPr>
            <a:xfrm>
              <a:off x="6670974" y="719455"/>
              <a:ext cx="3505835" cy="30416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l">
                <a:lnSpc>
                  <a:spcPct val="110000"/>
                </a:lnSpc>
              </a:pPr>
              <a:endParaRPr lang="zh-CN" altLang="en-US" sz="1800"/>
            </a:p>
          </p:txBody>
        </p:sp>
      </p:grpSp>
      <p:pic>
        <p:nvPicPr>
          <p:cNvPr id="4" name="图片 3" descr="微信图片_20260926103635_501_8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1595" y="1245870"/>
            <a:ext cx="9321800" cy="5306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1" name="image 7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02" name="组合 702"/>
          <p:cNvGrpSpPr/>
          <p:nvPr/>
        </p:nvGrpSpPr>
        <p:grpSpPr>
          <a:xfrm>
            <a:off x="515182" y="0"/>
            <a:ext cx="11202202" cy="1193800"/>
            <a:chOff x="515182" y="0"/>
            <a:chExt cx="11202202" cy="1193800"/>
          </a:xfrm>
        </p:grpSpPr>
        <p:grpSp>
          <p:nvGrpSpPr>
            <p:cNvPr id="703" name="组合 703"/>
            <p:cNvGrpSpPr/>
            <p:nvPr/>
          </p:nvGrpSpPr>
          <p:grpSpPr>
            <a:xfrm>
              <a:off x="515182" y="0"/>
              <a:ext cx="3535045" cy="1193800"/>
              <a:chOff x="515182" y="0"/>
              <a:chExt cx="3535045" cy="1193800"/>
            </a:xfrm>
          </p:grpSpPr>
          <p:pic>
            <p:nvPicPr>
              <p:cNvPr id="9704" name="image 704"/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2273300" y="0"/>
                <a:ext cx="1752600" cy="1193800"/>
              </a:xfrm>
              <a:prstGeom prst="rect">
                <a:avLst/>
              </a:prstGeom>
            </p:spPr>
          </p:pic>
          <p:sp>
            <p:nvSpPr>
              <p:cNvPr id="705" name="Object 705"/>
              <p:cNvSpPr txBox="1"/>
              <p:nvPr/>
            </p:nvSpPr>
            <p:spPr>
              <a:xfrm>
                <a:off x="515182" y="512653"/>
                <a:ext cx="3535045" cy="507365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rPr lang="zh-CN" altLang="en-US" sz="3000">
                    <a:solidFill>
                      <a:schemeClr val="bg1"/>
                    </a:solidFill>
                  </a:rPr>
                  <a:t>使用流程与快速演示 </a:t>
                </a:r>
                <a:endParaRPr lang="zh-CN" altLang="en-US" sz="300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9706" name="image 706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540747" y="1056274"/>
              <a:ext cx="11176637" cy="38108"/>
            </a:xfrm>
            <a:prstGeom prst="rect">
              <a:avLst/>
            </a:prstGeom>
          </p:spPr>
        </p:pic>
        <p:pic>
          <p:nvPicPr>
            <p:cNvPr id="9707" name="image 707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0942542" y="802213"/>
              <a:ext cx="724070" cy="114308"/>
            </a:xfrm>
            <a:prstGeom prst="rect">
              <a:avLst/>
            </a:prstGeom>
          </p:spPr>
        </p:pic>
        <p:sp>
          <p:nvSpPr>
            <p:cNvPr id="708" name="Object 708"/>
            <p:cNvSpPr txBox="1"/>
            <p:nvPr/>
          </p:nvSpPr>
          <p:spPr>
            <a:xfrm>
              <a:off x="8512755" y="762201"/>
              <a:ext cx="2362200" cy="1905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zh-CN" sz="1200" b="0" i="1" dirty="0" smtClean="0">
                  <a:solidFill>
                    <a:srgbClr val="179BDA"/>
                  </a:solidFill>
                  <a:latin typeface="OPPOSans-R" panose="00020600040101010101" charset="-122"/>
                  <a:ea typeface="OPPOSans-R" panose="00020600040101010101" charset="-122"/>
                </a:rPr>
                <a:t>TIAO ZHAN YU YING DUI CE LUE</a:t>
              </a:r>
              <a:endParaRPr lang="zh-CN" altLang="en-US" sz="1200"/>
            </a:p>
          </p:txBody>
        </p:sp>
        <p:sp>
          <p:nvSpPr>
            <p:cNvPr id="709" name="Object 709"/>
            <p:cNvSpPr txBox="1"/>
            <p:nvPr/>
          </p:nvSpPr>
          <p:spPr>
            <a:xfrm>
              <a:off x="3651862" y="716985"/>
              <a:ext cx="127000" cy="30416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l">
                <a:lnSpc>
                  <a:spcPct val="110000"/>
                </a:lnSpc>
              </a:pPr>
              <a:endParaRPr lang="zh-CN" altLang="en-US" sz="1800"/>
            </a:p>
          </p:txBody>
        </p:sp>
      </p:grpSp>
      <p:grpSp>
        <p:nvGrpSpPr>
          <p:cNvPr id="7010" name="组合 7010"/>
          <p:cNvGrpSpPr/>
          <p:nvPr>
            <p:custDataLst>
              <p:tags r:id="rId5"/>
            </p:custDataLst>
          </p:nvPr>
        </p:nvGrpSpPr>
        <p:grpSpPr>
          <a:xfrm>
            <a:off x="647700" y="1055370"/>
            <a:ext cx="5322570" cy="5098415"/>
            <a:chOff x="647700" y="1471450"/>
            <a:chExt cx="5322570" cy="4682490"/>
          </a:xfrm>
        </p:grpSpPr>
        <p:grpSp>
          <p:nvGrpSpPr>
            <p:cNvPr id="7011" name="组合 7011"/>
            <p:cNvGrpSpPr/>
            <p:nvPr/>
          </p:nvGrpSpPr>
          <p:grpSpPr>
            <a:xfrm>
              <a:off x="647700" y="1471450"/>
              <a:ext cx="5321300" cy="4446750"/>
              <a:chOff x="647700" y="1471450"/>
              <a:chExt cx="5321300" cy="4446750"/>
            </a:xfrm>
          </p:grpSpPr>
          <p:pic>
            <p:nvPicPr>
              <p:cNvPr id="97013" name="image 7013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7"/>
              <a:srcRect/>
              <a:stretch>
                <a:fillRect/>
              </a:stretch>
            </p:blipFill>
            <p:spPr>
              <a:xfrm>
                <a:off x="4925260" y="1471450"/>
                <a:ext cx="746416" cy="121392"/>
              </a:xfrm>
              <a:prstGeom prst="rect">
                <a:avLst/>
              </a:prstGeom>
            </p:spPr>
          </p:pic>
          <p:pic>
            <p:nvPicPr>
              <p:cNvPr id="97014" name="image 7014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/>
              <a:srcRect/>
              <a:stretch>
                <a:fillRect/>
              </a:stretch>
            </p:blipFill>
            <p:spPr>
              <a:xfrm>
                <a:off x="5943600" y="4216400"/>
                <a:ext cx="25400" cy="1701800"/>
              </a:xfrm>
              <a:prstGeom prst="rect">
                <a:avLst/>
              </a:prstGeom>
            </p:spPr>
          </p:pic>
          <p:pic>
            <p:nvPicPr>
              <p:cNvPr id="97015" name="image 7015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1"/>
              <a:srcRect/>
              <a:stretch>
                <a:fillRect/>
              </a:stretch>
            </p:blipFill>
            <p:spPr>
              <a:xfrm>
                <a:off x="647700" y="3937000"/>
                <a:ext cx="38100" cy="1701800"/>
              </a:xfrm>
              <a:prstGeom prst="rect">
                <a:avLst/>
              </a:prstGeom>
            </p:spPr>
          </p:pic>
        </p:grpSp>
        <p:pic>
          <p:nvPicPr>
            <p:cNvPr id="97016" name="image 701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rcRect/>
            <a:stretch>
              <a:fillRect/>
            </a:stretch>
          </p:blipFill>
          <p:spPr>
            <a:xfrm>
              <a:off x="648970" y="1914045"/>
              <a:ext cx="5321300" cy="4239895"/>
            </a:xfrm>
            <a:prstGeom prst="rect">
              <a:avLst/>
            </a:prstGeom>
          </p:spPr>
        </p:pic>
        <p:sp>
          <p:nvSpPr>
            <p:cNvPr id="7017" name="Object 7017"/>
            <p:cNvSpPr txBox="1"/>
            <p:nvPr>
              <p:custDataLst>
                <p:tags r:id="rId14"/>
              </p:custDataLst>
            </p:nvPr>
          </p:nvSpPr>
          <p:spPr>
            <a:xfrm>
              <a:off x="1066165" y="2553490"/>
              <a:ext cx="4495800" cy="352679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sz="1600" b="0" i="0" dirty="0" smtClean="0">
                  <a:solidFill>
                    <a:srgbClr val="FFFFFF"/>
                  </a:solidFill>
                  <a:latin typeface="OPPOSans-R" panose="00020600040101010101" charset="-122"/>
                  <a:ea typeface="OPPOSans-R" panose="00020600040101010101" charset="-122"/>
                </a:rPr>
                <a:t>普通报修与排障：输入“我的充电宝充不进电”，根据引导上传产品接口与指示灯照片，系统自动识别型号与排障路径。</a:t>
              </a:r>
              <a:endParaRPr lang="zh-CN" altLang="en-US" sz="1600" b="0" i="0" dirty="0" smtClean="0">
                <a:solidFill>
                  <a:srgbClr val="FFFFFF"/>
                </a:solidFill>
                <a:latin typeface="OPPOSans-R" panose="00020600040101010101" charset="-122"/>
                <a:ea typeface="OPPOSans-R" panose="00020600040101010101" charset="-122"/>
              </a:endParaRPr>
            </a:p>
          </p:txBody>
        </p:sp>
        <p:sp>
          <p:nvSpPr>
            <p:cNvPr id="7018" name="Object 7018"/>
            <p:cNvSpPr txBox="1"/>
            <p:nvPr>
              <p:custDataLst>
                <p:tags r:id="rId15"/>
              </p:custDataLst>
            </p:nvPr>
          </p:nvSpPr>
          <p:spPr>
            <a:xfrm>
              <a:off x="1061085" y="2150900"/>
              <a:ext cx="1527175" cy="40322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200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</a:rPr>
                <a:t>演示场景</a:t>
              </a:r>
              <a:endParaRPr lang="zh-CN" altLang="en-US" sz="200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</p:grpSp>
      <p:grpSp>
        <p:nvGrpSpPr>
          <p:cNvPr id="7019" name="组合 7019"/>
          <p:cNvGrpSpPr/>
          <p:nvPr>
            <p:custDataLst>
              <p:tags r:id="rId16"/>
            </p:custDataLst>
          </p:nvPr>
        </p:nvGrpSpPr>
        <p:grpSpPr>
          <a:xfrm>
            <a:off x="6381750" y="1463195"/>
            <a:ext cx="5334000" cy="4682413"/>
            <a:chOff x="6324600" y="1471450"/>
            <a:chExt cx="5334000" cy="4682413"/>
          </a:xfrm>
        </p:grpSpPr>
        <p:grpSp>
          <p:nvGrpSpPr>
            <p:cNvPr id="7020" name="组合 7020"/>
            <p:cNvGrpSpPr/>
            <p:nvPr/>
          </p:nvGrpSpPr>
          <p:grpSpPr>
            <a:xfrm>
              <a:off x="6324600" y="1471450"/>
              <a:ext cx="5334000" cy="4573750"/>
              <a:chOff x="6324600" y="1471450"/>
              <a:chExt cx="5334000" cy="4573750"/>
            </a:xfrm>
          </p:grpSpPr>
          <p:pic>
            <p:nvPicPr>
              <p:cNvPr id="97022" name="image 7022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18"/>
              <a:srcRect/>
              <a:stretch>
                <a:fillRect/>
              </a:stretch>
            </p:blipFill>
            <p:spPr>
              <a:xfrm>
                <a:off x="6629585" y="1471450"/>
                <a:ext cx="746421" cy="121392"/>
              </a:xfrm>
              <a:prstGeom prst="rect">
                <a:avLst/>
              </a:prstGeom>
            </p:spPr>
          </p:pic>
          <p:pic>
            <p:nvPicPr>
              <p:cNvPr id="97023" name="image 7023"/>
              <p:cNvPicPr>
                <a:picLocks noChangeAspect="1"/>
              </p:cNvPicPr>
              <p:nvPr>
                <p:custDataLst>
                  <p:tags r:id="rId19"/>
                </p:custDataLst>
              </p:nvPr>
            </p:nvPicPr>
            <p:blipFill>
              <a:blip r:embed="rId20"/>
              <a:srcRect/>
              <a:stretch>
                <a:fillRect/>
              </a:stretch>
            </p:blipFill>
            <p:spPr>
              <a:xfrm>
                <a:off x="6324600" y="4343400"/>
                <a:ext cx="25400" cy="1701800"/>
              </a:xfrm>
              <a:prstGeom prst="rect">
                <a:avLst/>
              </a:prstGeom>
            </p:spPr>
          </p:pic>
          <p:pic>
            <p:nvPicPr>
              <p:cNvPr id="97024" name="image 7024"/>
              <p:cNvPicPr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22"/>
              <a:srcRect/>
              <a:stretch>
                <a:fillRect/>
              </a:stretch>
            </p:blipFill>
            <p:spPr>
              <a:xfrm>
                <a:off x="11620500" y="3898900"/>
                <a:ext cx="38100" cy="1701800"/>
              </a:xfrm>
              <a:prstGeom prst="rect">
                <a:avLst/>
              </a:prstGeom>
            </p:spPr>
          </p:pic>
        </p:grpSp>
        <p:pic>
          <p:nvPicPr>
            <p:cNvPr id="97025" name="image 7025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rcRect/>
            <a:stretch>
              <a:fillRect/>
            </a:stretch>
          </p:blipFill>
          <p:spPr>
            <a:xfrm>
              <a:off x="6330975" y="3737634"/>
              <a:ext cx="5321477" cy="2416229"/>
            </a:xfrm>
            <a:prstGeom prst="rect">
              <a:avLst/>
            </a:prstGeom>
          </p:spPr>
        </p:pic>
        <p:sp>
          <p:nvSpPr>
            <p:cNvPr id="7026" name="Object 7026"/>
            <p:cNvSpPr txBox="1"/>
            <p:nvPr>
              <p:custDataLst>
                <p:tags r:id="rId25"/>
              </p:custDataLst>
            </p:nvPr>
          </p:nvSpPr>
          <p:spPr>
            <a:xfrm>
              <a:off x="6869996" y="4642510"/>
              <a:ext cx="4229100" cy="92329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输入“充电宝鼓包发热还有异味”，系统触发 </a:t>
              </a:r>
              <a:r>
                <a:rPr lang="en-US" altLang="zh-CN" sz="1600">
                  <a:solidFill>
                    <a:schemeClr val="bg1"/>
                  </a:solidFill>
                </a:rPr>
                <a:t>Safety Gate </a:t>
              </a:r>
              <a:r>
                <a:rPr lang="zh-CN" altLang="en-US" sz="1600">
                  <a:solidFill>
                    <a:schemeClr val="bg1"/>
                  </a:solidFill>
                </a:rPr>
                <a:t>拦截，中止排障并直接推送安全警示与人工工单。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7027" name="Object 7027"/>
            <p:cNvSpPr txBox="1"/>
            <p:nvPr>
              <p:custDataLst>
                <p:tags r:id="rId26"/>
              </p:custDataLst>
            </p:nvPr>
          </p:nvSpPr>
          <p:spPr>
            <a:xfrm>
              <a:off x="6868261" y="4149284"/>
              <a:ext cx="1778000" cy="33845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2000" b="1">
                  <a:solidFill>
                    <a:schemeClr val="bg1"/>
                  </a:solidFill>
                  <a:sym typeface="+mn-ea"/>
                </a:rPr>
                <a:t>安全风险熔断</a:t>
              </a:r>
              <a:r>
                <a:rPr lang="zh-CN" sz="2000" b="0" i="0" dirty="0" smtClean="0">
                  <a:solidFill>
                    <a:srgbClr val="39E5FF"/>
                  </a:solidFill>
                  <a:latin typeface="OPPOSans-B" panose="00020600040101010101" charset="-122"/>
                  <a:ea typeface="OPPOSans-B" panose="00020600040101010101" charset="-122"/>
                </a:rPr>
                <a:t>：</a:t>
              </a:r>
              <a:endParaRPr lang="zh-CN" altLang="en-US" sz="2000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62700" y="1969770"/>
            <a:ext cx="5354955" cy="17595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7090" y="3159760"/>
            <a:ext cx="4925060" cy="2600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01" name="image 8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802" name="image 80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24600" y="1056005"/>
            <a:ext cx="5393496" cy="4902200"/>
          </a:xfrm>
          <a:prstGeom prst="rect">
            <a:avLst/>
          </a:prstGeom>
        </p:spPr>
      </p:pic>
      <p:sp>
        <p:nvSpPr>
          <p:cNvPr id="8011" name="Object 8011"/>
          <p:cNvSpPr txBox="1"/>
          <p:nvPr/>
        </p:nvSpPr>
        <p:spPr>
          <a:xfrm>
            <a:off x="6700563" y="1715884"/>
            <a:ext cx="1778000" cy="338455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2000">
                <a:solidFill>
                  <a:schemeClr val="bg1"/>
                </a:solidFill>
              </a:rPr>
              <a:t>问题解决与闭环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16370" y="2306320"/>
            <a:ext cx="4712970" cy="3169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用户反馈“换线后可以正常充电了”，工单状态自动切换为 `</a:t>
            </a:r>
            <a:r>
              <a:rPr lang="en-US" altLang="zh-CN">
                <a:solidFill>
                  <a:schemeClr val="bg1"/>
                </a:solidFill>
              </a:rPr>
              <a:t>resolved`。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6" name="image 80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17525" y="1233805"/>
            <a:ext cx="5393496" cy="49022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4540" y="1601470"/>
            <a:ext cx="2693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图片识别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4540" y="2098040"/>
            <a:ext cx="4834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用户上传图片系统会自动对其状态损坏程度进行分析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40" y="2743200"/>
            <a:ext cx="4184015" cy="18211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40" y="4564380"/>
            <a:ext cx="3390900" cy="14382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335" y="3068955"/>
            <a:ext cx="4511040" cy="2219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601" name="image 6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48895" y="0"/>
            <a:ext cx="12192000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585"/>
            <a:ext cx="5660390" cy="46488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515" y="2559050"/>
            <a:ext cx="7256780" cy="42989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331585" y="575945"/>
            <a:ext cx="5526405" cy="1977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0">
                <a:solidFill>
                  <a:schemeClr val="bg1"/>
                </a:solidFill>
                <a:latin typeface="华文彩云" panose="02010800040101010101" charset="-122"/>
                <a:ea typeface="华文彩云" panose="02010800040101010101" charset="-122"/>
              </a:rPr>
              <a:t>测试页面</a:t>
            </a:r>
            <a:endParaRPr lang="zh-CN" altLang="en-US" sz="8000">
              <a:solidFill>
                <a:schemeClr val="bg1"/>
              </a:solidFill>
              <a:latin typeface="华文彩云" panose="02010800040101010101" charset="-122"/>
              <a:ea typeface="华文彩云" panose="020108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1" name="image 9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4925" y="0"/>
            <a:ext cx="12192000" cy="6858000"/>
          </a:xfrm>
          <a:prstGeom prst="rect">
            <a:avLst/>
          </a:prstGeom>
        </p:spPr>
      </p:pic>
      <p:grpSp>
        <p:nvGrpSpPr>
          <p:cNvPr id="902" name="组合 902"/>
          <p:cNvGrpSpPr/>
          <p:nvPr/>
        </p:nvGrpSpPr>
        <p:grpSpPr>
          <a:xfrm>
            <a:off x="518130" y="0"/>
            <a:ext cx="11200752" cy="1193800"/>
            <a:chOff x="518130" y="0"/>
            <a:chExt cx="11200752" cy="1193800"/>
          </a:xfrm>
        </p:grpSpPr>
        <p:grpSp>
          <p:nvGrpSpPr>
            <p:cNvPr id="903" name="组合 903"/>
            <p:cNvGrpSpPr/>
            <p:nvPr/>
          </p:nvGrpSpPr>
          <p:grpSpPr>
            <a:xfrm>
              <a:off x="518130" y="0"/>
              <a:ext cx="3558570" cy="1193800"/>
              <a:chOff x="518130" y="0"/>
              <a:chExt cx="3558570" cy="1193800"/>
            </a:xfrm>
          </p:grpSpPr>
          <p:pic>
            <p:nvPicPr>
              <p:cNvPr id="9904" name="image 904"/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2324100" y="0"/>
                <a:ext cx="1752600" cy="1193800"/>
              </a:xfrm>
              <a:prstGeom prst="rect">
                <a:avLst/>
              </a:prstGeom>
            </p:spPr>
          </p:pic>
          <p:sp>
            <p:nvSpPr>
              <p:cNvPr id="905" name="Object 905"/>
              <p:cNvSpPr txBox="1"/>
              <p:nvPr/>
            </p:nvSpPr>
            <p:spPr>
              <a:xfrm>
                <a:off x="518130" y="512653"/>
                <a:ext cx="3048000" cy="507365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rPr lang="zh-CN" altLang="en-US" sz="3000">
                    <a:solidFill>
                      <a:schemeClr val="bg1"/>
                    </a:solidFill>
                    <a:latin typeface="华文新魏" panose="02010800040101010101" charset="-122"/>
                    <a:ea typeface="华文新魏" panose="02010800040101010101" charset="-122"/>
                  </a:rPr>
                  <a:t>局限性与改进规划</a:t>
                </a:r>
                <a:endParaRPr lang="zh-CN" altLang="en-US" sz="3000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</a:endParaRPr>
              </a:p>
            </p:txBody>
          </p:sp>
        </p:grpSp>
        <p:pic>
          <p:nvPicPr>
            <p:cNvPr id="9906" name="image 906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542245" y="1056274"/>
              <a:ext cx="11176637" cy="38108"/>
            </a:xfrm>
            <a:prstGeom prst="rect">
              <a:avLst/>
            </a:prstGeom>
          </p:spPr>
        </p:pic>
        <p:pic>
          <p:nvPicPr>
            <p:cNvPr id="9907" name="image 907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0944040" y="802213"/>
              <a:ext cx="724070" cy="114308"/>
            </a:xfrm>
            <a:prstGeom prst="rect">
              <a:avLst/>
            </a:prstGeom>
          </p:spPr>
        </p:pic>
        <p:sp>
          <p:nvSpPr>
            <p:cNvPr id="908" name="Object 908"/>
            <p:cNvSpPr txBox="1"/>
            <p:nvPr/>
          </p:nvSpPr>
          <p:spPr>
            <a:xfrm>
              <a:off x="8349432" y="762201"/>
              <a:ext cx="2540000" cy="1905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zh-CN" sz="1200" b="0" i="1" dirty="0" smtClean="0">
                  <a:solidFill>
                    <a:srgbClr val="179BDA"/>
                  </a:solidFill>
                  <a:latin typeface="OPPOSans-R" panose="00020600040101010101" charset="-122"/>
                  <a:ea typeface="OPPOSans-R" panose="00020600040101010101" charset="-122"/>
                </a:rPr>
                <a:t>ZONG JIE YU WEI LAI ZHAN WANG</a:t>
              </a:r>
              <a:endParaRPr lang="zh-CN" altLang="en-US" sz="1200"/>
            </a:p>
          </p:txBody>
        </p:sp>
        <p:sp>
          <p:nvSpPr>
            <p:cNvPr id="909" name="Object 909"/>
            <p:cNvSpPr txBox="1"/>
            <p:nvPr/>
          </p:nvSpPr>
          <p:spPr>
            <a:xfrm>
              <a:off x="3598557" y="716985"/>
              <a:ext cx="127000" cy="30416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l">
                <a:lnSpc>
                  <a:spcPct val="110000"/>
                </a:lnSpc>
              </a:pPr>
              <a:endParaRPr lang="zh-CN" altLang="en-US" sz="1800"/>
            </a:p>
          </p:txBody>
        </p:sp>
      </p:grpSp>
      <p:grpSp>
        <p:nvGrpSpPr>
          <p:cNvPr id="9010" name="组合 9010"/>
          <p:cNvGrpSpPr/>
          <p:nvPr>
            <p:custDataLst>
              <p:tags r:id="rId5"/>
            </p:custDataLst>
          </p:nvPr>
        </p:nvGrpSpPr>
        <p:grpSpPr>
          <a:xfrm>
            <a:off x="650715" y="2078392"/>
            <a:ext cx="5511165" cy="4251325"/>
            <a:chOff x="650715" y="2078392"/>
            <a:chExt cx="5511165" cy="4251325"/>
          </a:xfrm>
        </p:grpSpPr>
        <p:sp>
          <p:nvSpPr>
            <p:cNvPr id="9011" name="Object 9011"/>
            <p:cNvSpPr txBox="1"/>
            <p:nvPr>
              <p:custDataLst>
                <p:tags r:id="rId6"/>
              </p:custDataLst>
            </p:nvPr>
          </p:nvSpPr>
          <p:spPr>
            <a:xfrm>
              <a:off x="1024730" y="2585122"/>
              <a:ext cx="5137150" cy="374459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en-US" altLang="zh-CN" sz="1600">
                  <a:solidFill>
                    <a:schemeClr val="bg1"/>
                  </a:solidFill>
                </a:rPr>
                <a:t>1.</a:t>
              </a:r>
              <a:r>
                <a:rPr lang="zh-CN" altLang="en-US" sz="1600">
                  <a:solidFill>
                    <a:schemeClr val="bg1"/>
                  </a:solidFill>
                </a:rPr>
                <a:t>情绪识别规则偏强：目前主要依据关键词与规则识别，缺乏专门的情感分析微调模型，复杂反讽表达可能存在误判。</a:t>
              </a:r>
              <a:endParaRPr lang="zh-CN" altLang="en-US" sz="1600">
                <a:solidFill>
                  <a:schemeClr val="bg1"/>
                </a:solidFill>
              </a:endParaRPr>
            </a:p>
            <a:p>
              <a:pPr algn="just">
                <a:lnSpc>
                  <a:spcPct val="125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2. 业务工具为模拟对接：当前订单、</a:t>
              </a:r>
              <a:r>
                <a:rPr lang="en-US" altLang="zh-CN" sz="1600">
                  <a:solidFill>
                    <a:schemeClr val="bg1"/>
                  </a:solidFill>
                </a:rPr>
                <a:t>SN </a:t>
              </a:r>
              <a:r>
                <a:rPr lang="zh-CN" altLang="en-US" sz="1600">
                  <a:solidFill>
                    <a:schemeClr val="bg1"/>
                  </a:solidFill>
                </a:rPr>
                <a:t>及质保查询接入的是 </a:t>
              </a:r>
              <a:r>
                <a:rPr lang="en-US" altLang="zh-CN" sz="1600">
                  <a:solidFill>
                    <a:schemeClr val="bg1"/>
                  </a:solidFill>
                </a:rPr>
                <a:t>Demo </a:t>
              </a:r>
              <a:r>
                <a:rPr lang="zh-CN" altLang="en-US" sz="1600">
                  <a:solidFill>
                    <a:schemeClr val="bg1"/>
                  </a:solidFill>
                </a:rPr>
                <a:t>数据源，尚需对接真实 </a:t>
              </a:r>
              <a:r>
                <a:rPr lang="en-US" altLang="zh-CN" sz="1600">
                  <a:solidFill>
                    <a:schemeClr val="bg1"/>
                  </a:solidFill>
                </a:rPr>
                <a:t>Enterprise ERP/CRM </a:t>
              </a:r>
              <a:r>
                <a:rPr lang="zh-CN" altLang="en-US" sz="1600">
                  <a:solidFill>
                    <a:schemeClr val="bg1"/>
                  </a:solidFill>
                </a:rPr>
                <a:t>接口。</a:t>
              </a:r>
              <a:endParaRPr lang="zh-CN" altLang="en-US" sz="1600">
                <a:solidFill>
                  <a:schemeClr val="bg1"/>
                </a:solidFill>
              </a:endParaRPr>
            </a:p>
            <a:p>
              <a:pPr algn="just">
                <a:lnSpc>
                  <a:spcPct val="125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3.向量检索依赖缓存：无专置向量数据库（如 </a:t>
              </a:r>
              <a:r>
                <a:rPr lang="en-US" altLang="zh-CN" sz="1600">
                  <a:solidFill>
                    <a:schemeClr val="bg1"/>
                  </a:solidFill>
                </a:rPr>
                <a:t>Milvus/Qdrant），</a:t>
              </a:r>
              <a:r>
                <a:rPr lang="zh-CN" altLang="en-US" sz="1600">
                  <a:solidFill>
                    <a:schemeClr val="bg1"/>
                  </a:solidFill>
                </a:rPr>
                <a:t>依靠内存及本地 </a:t>
              </a:r>
              <a:r>
                <a:rPr lang="en-US" altLang="zh-CN" sz="1600">
                  <a:solidFill>
                    <a:schemeClr val="bg1"/>
                  </a:solidFill>
                </a:rPr>
                <a:t>JSON </a:t>
              </a:r>
              <a:r>
                <a:rPr lang="zh-CN" altLang="en-US" sz="1600">
                  <a:solidFill>
                    <a:schemeClr val="bg1"/>
                  </a:solidFill>
                </a:rPr>
                <a:t>存储，超大规模数据下扩展性受限。</a:t>
              </a:r>
              <a:endParaRPr lang="zh-CN" altLang="en-US" sz="1600">
                <a:solidFill>
                  <a:schemeClr val="bg1"/>
                </a:solidFill>
              </a:endParaRPr>
            </a:p>
            <a:p>
              <a:pPr algn="just">
                <a:lnSpc>
                  <a:spcPct val="125000"/>
                </a:lnSpc>
              </a:pPr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9012" name="Object 9012"/>
            <p:cNvSpPr txBox="1"/>
            <p:nvPr>
              <p:custDataLst>
                <p:tags r:id="rId7"/>
              </p:custDataLst>
            </p:nvPr>
          </p:nvSpPr>
          <p:spPr>
            <a:xfrm>
              <a:off x="1029428" y="2078392"/>
              <a:ext cx="1439545" cy="33845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2000" b="1">
                  <a:solidFill>
                    <a:srgbClr val="00B0F0"/>
                  </a:solidFill>
                </a:rPr>
                <a:t>当前局限性 </a:t>
              </a:r>
              <a:r>
                <a:rPr lang="en-US" altLang="zh-CN" sz="2000"/>
                <a:t>*</a:t>
              </a:r>
              <a:endParaRPr lang="en-US" altLang="zh-CN" sz="2000"/>
            </a:p>
          </p:txBody>
        </p:sp>
        <p:pic>
          <p:nvPicPr>
            <p:cNvPr id="99013" name="image 901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rcRect/>
            <a:stretch>
              <a:fillRect/>
            </a:stretch>
          </p:blipFill>
          <p:spPr>
            <a:xfrm>
              <a:off x="650715" y="2091092"/>
              <a:ext cx="241300" cy="2578100"/>
            </a:xfrm>
            <a:prstGeom prst="rect">
              <a:avLst/>
            </a:prstGeom>
          </p:spPr>
        </p:pic>
      </p:grpSp>
      <p:grpSp>
        <p:nvGrpSpPr>
          <p:cNvPr id="9014" name="组合 9014"/>
          <p:cNvGrpSpPr/>
          <p:nvPr>
            <p:custDataLst>
              <p:tags r:id="rId10"/>
            </p:custDataLst>
          </p:nvPr>
        </p:nvGrpSpPr>
        <p:grpSpPr>
          <a:xfrm>
            <a:off x="6813390" y="2212698"/>
            <a:ext cx="5127625" cy="3166745"/>
            <a:chOff x="8677115" y="2114908"/>
            <a:chExt cx="5127625" cy="3166745"/>
          </a:xfrm>
        </p:grpSpPr>
        <p:sp>
          <p:nvSpPr>
            <p:cNvPr id="9015" name="Object 9015"/>
            <p:cNvSpPr txBox="1"/>
            <p:nvPr>
              <p:custDataLst>
                <p:tags r:id="rId11"/>
              </p:custDataLst>
            </p:nvPr>
          </p:nvSpPr>
          <p:spPr>
            <a:xfrm>
              <a:off x="9050495" y="2622908"/>
              <a:ext cx="4754245" cy="265874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微调专业客服模型：引入特定场景微调（</a:t>
              </a:r>
              <a:r>
                <a:rPr lang="en-US" altLang="zh-CN" sz="1600">
                  <a:solidFill>
                    <a:schemeClr val="bg1"/>
                  </a:solidFill>
                </a:rPr>
                <a:t>SFT）</a:t>
              </a:r>
              <a:r>
                <a:rPr lang="zh-CN" altLang="en-US" sz="1600">
                  <a:solidFill>
                    <a:schemeClr val="bg1"/>
                  </a:solidFill>
                </a:rPr>
                <a:t>的情绪与诊断大模型。</a:t>
              </a:r>
              <a:endParaRPr lang="zh-CN" altLang="en-US" sz="1600">
                <a:solidFill>
                  <a:schemeClr val="bg1"/>
                </a:solidFill>
              </a:endParaRPr>
            </a:p>
            <a:p>
              <a:pPr algn="just">
                <a:lnSpc>
                  <a:spcPct val="125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扩展 </a:t>
              </a:r>
              <a:r>
                <a:rPr lang="en-US" altLang="zh-CN" sz="1600">
                  <a:solidFill>
                    <a:schemeClr val="bg1"/>
                  </a:solidFill>
                </a:rPr>
                <a:t>Agentic Tools </a:t>
              </a:r>
              <a:r>
                <a:rPr lang="zh-CN" altLang="en-US" sz="1600">
                  <a:solidFill>
                    <a:schemeClr val="bg1"/>
                  </a:solidFill>
                </a:rPr>
                <a:t>体系：对接企业级 </a:t>
              </a:r>
              <a:r>
                <a:rPr lang="en-US" altLang="zh-CN" sz="1600">
                  <a:solidFill>
                    <a:schemeClr val="bg1"/>
                  </a:solidFill>
                </a:rPr>
                <a:t>ERP、</a:t>
              </a:r>
              <a:r>
                <a:rPr lang="zh-CN" altLang="en-US" sz="1600">
                  <a:solidFill>
                    <a:schemeClr val="bg1"/>
                  </a:solidFill>
                </a:rPr>
                <a:t>客服系统（如 </a:t>
              </a:r>
              <a:r>
                <a:rPr lang="en-US" altLang="zh-CN" sz="1600">
                  <a:solidFill>
                    <a:schemeClr val="bg1"/>
                  </a:solidFill>
                </a:rPr>
                <a:t>Zendesk/Salesforce）</a:t>
              </a:r>
              <a:r>
                <a:rPr lang="zh-CN" altLang="en-US" sz="1600">
                  <a:solidFill>
                    <a:schemeClr val="bg1"/>
                  </a:solidFill>
                </a:rPr>
                <a:t>与物流 </a:t>
              </a:r>
              <a:r>
                <a:rPr lang="en-US" altLang="zh-CN" sz="1600">
                  <a:solidFill>
                    <a:schemeClr val="bg1"/>
                  </a:solidFill>
                </a:rPr>
                <a:t>API，</a:t>
              </a:r>
              <a:r>
                <a:rPr lang="zh-CN" altLang="en-US" sz="1600">
                  <a:solidFill>
                    <a:schemeClr val="bg1"/>
                  </a:solidFill>
                </a:rPr>
                <a:t>支持一键退换货与补发下单。</a:t>
              </a:r>
              <a:endParaRPr lang="zh-CN" altLang="en-US" sz="1600">
                <a:solidFill>
                  <a:schemeClr val="bg1"/>
                </a:solidFill>
              </a:endParaRPr>
            </a:p>
            <a:p>
              <a:pPr algn="just">
                <a:lnSpc>
                  <a:spcPct val="125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增强多模态理解：扩展至视频级故障识别与实时音频交互。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9016" name="Object 9016"/>
            <p:cNvSpPr txBox="1"/>
            <p:nvPr>
              <p:custDataLst>
                <p:tags r:id="rId12"/>
              </p:custDataLst>
            </p:nvPr>
          </p:nvSpPr>
          <p:spPr>
            <a:xfrm>
              <a:off x="9050285" y="2114908"/>
              <a:ext cx="1524000" cy="338455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zh-CN" altLang="en-US" sz="2000" b="1">
                  <a:solidFill>
                    <a:srgbClr val="00B0F0"/>
                  </a:solidFill>
                </a:rPr>
                <a:t>未来演进计划</a:t>
              </a:r>
              <a:endParaRPr lang="zh-CN" altLang="en-US" sz="2000" b="1">
                <a:solidFill>
                  <a:srgbClr val="00B0F0"/>
                </a:solidFill>
              </a:endParaRPr>
            </a:p>
          </p:txBody>
        </p:sp>
        <p:pic>
          <p:nvPicPr>
            <p:cNvPr id="99017" name="image 901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9"/>
            <a:srcRect/>
            <a:stretch>
              <a:fillRect/>
            </a:stretch>
          </p:blipFill>
          <p:spPr>
            <a:xfrm>
              <a:off x="8677115" y="2114908"/>
              <a:ext cx="241300" cy="2578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01" name="image 10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2" name="组合 1002"/>
          <p:cNvGrpSpPr/>
          <p:nvPr/>
        </p:nvGrpSpPr>
        <p:grpSpPr>
          <a:xfrm>
            <a:off x="219293" y="914400"/>
            <a:ext cx="9153306" cy="3835400"/>
            <a:chOff x="219293" y="914400"/>
            <a:chExt cx="9153306" cy="3835400"/>
          </a:xfrm>
        </p:grpSpPr>
        <p:pic>
          <p:nvPicPr>
            <p:cNvPr id="91003" name="image 1003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219293" y="1864804"/>
              <a:ext cx="2777906" cy="1739846"/>
            </a:xfrm>
            <a:prstGeom prst="rect">
              <a:avLst/>
            </a:prstGeom>
          </p:spPr>
        </p:pic>
        <p:pic>
          <p:nvPicPr>
            <p:cNvPr id="91004" name="image 100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816100" y="914400"/>
              <a:ext cx="7556500" cy="3835400"/>
            </a:xfrm>
            <a:prstGeom prst="rect">
              <a:avLst/>
            </a:prstGeom>
          </p:spPr>
        </p:pic>
        <p:sp>
          <p:nvSpPr>
            <p:cNvPr id="1005" name="Object 1005"/>
            <p:cNvSpPr txBox="1"/>
            <p:nvPr/>
          </p:nvSpPr>
          <p:spPr>
            <a:xfrm>
              <a:off x="1179894" y="2517528"/>
              <a:ext cx="4572000" cy="9144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sz="6000" b="0" i="0" dirty="0" smtClean="0">
                  <a:blipFill>
                    <a:blip r:embed="rId4"/>
                    <a:stretch>
                      <a:fillRect/>
                    </a:stretch>
                  </a:blipFill>
                  <a:latin typeface="AlimamaShuHeiTi"/>
                  <a:ea typeface="AlimamaShuHeiTi"/>
                </a:rPr>
                <a:t>感谢您的观看</a:t>
              </a:r>
              <a:endParaRPr lang="zh-CN" altLang="en-US" sz="6000"/>
            </a:p>
          </p:txBody>
        </p:sp>
        <p:sp>
          <p:nvSpPr>
            <p:cNvPr id="1006" name="Object 1006"/>
            <p:cNvSpPr txBox="1"/>
            <p:nvPr/>
          </p:nvSpPr>
          <p:spPr>
            <a:xfrm>
              <a:off x="2310304" y="3696691"/>
              <a:ext cx="2324100" cy="4572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sz="3000" b="0" i="0" dirty="0" smtClean="0">
                  <a:blipFill>
                    <a:blip r:embed="rId5"/>
                    <a:stretch>
                      <a:fillRect/>
                    </a:stretch>
                  </a:blipFill>
                  <a:latin typeface="OPPOSans-M" panose="00020600040101010101" charset="-122"/>
                  <a:ea typeface="OPPOSans-M" panose="00020600040101010101" charset="-122"/>
                </a:rPr>
                <a:t>THANK YOU</a:t>
              </a:r>
              <a:endParaRPr lang="zh-CN" altLang="en-US" sz="3000"/>
            </a:p>
          </p:txBody>
        </p:sp>
      </p:grpSp>
      <p:pic>
        <p:nvPicPr>
          <p:cNvPr id="91007" name="image 100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31434" y="443556"/>
            <a:ext cx="354440" cy="15164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2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3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4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5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6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7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8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9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10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11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12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13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14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15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16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17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18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19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20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21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22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23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24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25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26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27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28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29.xml><?xml version="1.0" encoding="utf-8"?>
<p:tagLst xmlns:p="http://schemas.openxmlformats.org/presentationml/2006/main">
  <p:tag name="KSO_WM_DIAGRAM_VIRTUALLY_FRAME" val="{&quot;height&quot;:268.5,&quot;left&quot;:48.999921259842516,&quot;top&quot;:173.5,&quot;width&quot;:853.7491338582679}"/>
</p:tagLst>
</file>

<file path=ppt/tags/tag30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31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32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33.xml><?xml version="1.0" encoding="utf-8"?>
<p:tagLst xmlns:p="http://schemas.openxmlformats.org/presentationml/2006/main">
  <p:tag name="KSO_WM_DIAGRAM_VIRTUALLY_FRAME" val="{&quot;height&quot;:360.4,&quot;left&quot;:27,&quot;top&quot;:161.65,&quot;width&quot;:913.4000000000002}"/>
</p:tagLst>
</file>

<file path=ppt/tags/tag34.xml><?xml version="1.0" encoding="utf-8"?>
<p:tagLst xmlns:p="http://schemas.openxmlformats.org/presentationml/2006/main">
  <p:tag name="KSO_WM_DIAGRAM_VIRTUALLY_FRAME" val="{&quot;height&quot;:268.5,&quot;left&quot;:48.999921259842516,&quot;top&quot;:173.5,&quot;width&quot;:853.7491338582679}"/>
</p:tagLst>
</file>

<file path=ppt/tags/tag35.xml><?xml version="1.0" encoding="utf-8"?>
<p:tagLst xmlns:p="http://schemas.openxmlformats.org/presentationml/2006/main">
  <p:tag name="KSO_WM_DIAGRAM_VIRTUALLY_FRAME" val="{&quot;height&quot;:353,&quot;left&quot;:44,&quot;top&quot;:127,&quot;width&quot;:866.3459842519685}"/>
</p:tagLst>
</file>

<file path=ppt/tags/tag36.xml><?xml version="1.0" encoding="utf-8"?>
<p:tagLst xmlns:p="http://schemas.openxmlformats.org/presentationml/2006/main">
  <p:tag name="KSO_WM_DIAGRAM_VIRTUALLY_FRAME" val="{&quot;height&quot;:353,&quot;left&quot;:44,&quot;top&quot;:127,&quot;width&quot;:866.3459842519685}"/>
</p:tagLst>
</file>

<file path=ppt/tags/tag37.xml><?xml version="1.0" encoding="utf-8"?>
<p:tagLst xmlns:p="http://schemas.openxmlformats.org/presentationml/2006/main">
  <p:tag name="KSO_WM_DIAGRAM_VIRTUALLY_FRAME" val="{&quot;height&quot;:353,&quot;left&quot;:44,&quot;top&quot;:127,&quot;width&quot;:866.3459842519685}"/>
</p:tagLst>
</file>

<file path=ppt/tags/tag38.xml><?xml version="1.0" encoding="utf-8"?>
<p:tagLst xmlns:p="http://schemas.openxmlformats.org/presentationml/2006/main">
  <p:tag name="KSO_WM_DIAGRAM_VIRTUALLY_FRAME" val="{&quot;height&quot;:353,&quot;left&quot;:44,&quot;top&quot;:127,&quot;width&quot;:866.3459842519685}"/>
</p:tagLst>
</file>

<file path=ppt/tags/tag39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40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41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42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43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44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45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46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47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48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49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50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51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52.xml><?xml version="1.0" encoding="utf-8"?>
<p:tagLst xmlns:p="http://schemas.openxmlformats.org/presentationml/2006/main">
  <p:tag name="KSO_WM_DIAGRAM_VIRTUALLY_FRAME" val="{&quot;height&quot;:374.56220472440947,&quot;left&quot;:51,&quot;top&quot;:110,&quot;width&quot;:867}"/>
</p:tagLst>
</file>

<file path=ppt/tags/tag53.xml><?xml version="1.0" encoding="utf-8"?>
<p:tagLst xmlns:p="http://schemas.openxmlformats.org/presentationml/2006/main">
  <p:tag name="KSO_WM_DIAGRAM_VIRTUALLY_FRAME" val="{&quot;height&quot;:427.6490551181102,&quot;left&quot;:51.23740157480315,&quot;top&quot;:163.65291338582674,&quot;width&quot;:863.4073228346457}"/>
</p:tagLst>
</file>

<file path=ppt/tags/tag54.xml><?xml version="1.0" encoding="utf-8"?>
<p:tagLst xmlns:p="http://schemas.openxmlformats.org/presentationml/2006/main">
  <p:tag name="KSO_WM_DIAGRAM_VIRTUALLY_FRAME" val="{&quot;height&quot;:427.6490551181102,&quot;left&quot;:51.23740157480315,&quot;top&quot;:163.65291338582674,&quot;width&quot;:863.4073228346457}"/>
</p:tagLst>
</file>

<file path=ppt/tags/tag55.xml><?xml version="1.0" encoding="utf-8"?>
<p:tagLst xmlns:p="http://schemas.openxmlformats.org/presentationml/2006/main">
  <p:tag name="KSO_WM_DIAGRAM_VIRTUALLY_FRAME" val="{&quot;height&quot;:427.6490551181102,&quot;left&quot;:51.23740157480315,&quot;top&quot;:163.65291338582674,&quot;width&quot;:863.4073228346457}"/>
</p:tagLst>
</file>

<file path=ppt/tags/tag56.xml><?xml version="1.0" encoding="utf-8"?>
<p:tagLst xmlns:p="http://schemas.openxmlformats.org/presentationml/2006/main">
  <p:tag name="KSO_WM_DIAGRAM_VIRTUALLY_FRAME" val="{&quot;height&quot;:427.6490551181102,&quot;left&quot;:51.23740157480315,&quot;top&quot;:163.65291338582674,&quot;width&quot;:863.4073228346457}"/>
</p:tagLst>
</file>

<file path=ppt/tags/tag57.xml><?xml version="1.0" encoding="utf-8"?>
<p:tagLst xmlns:p="http://schemas.openxmlformats.org/presentationml/2006/main">
  <p:tag name="KSO_WM_DIAGRAM_VIRTUALLY_FRAME" val="{&quot;height&quot;:427.6490551181102,&quot;left&quot;:51.23740157480315,&quot;top&quot;:163.65291338582674,&quot;width&quot;:863.4073228346457}"/>
</p:tagLst>
</file>

<file path=ppt/tags/tag58.xml><?xml version="1.0" encoding="utf-8"?>
<p:tagLst xmlns:p="http://schemas.openxmlformats.org/presentationml/2006/main">
  <p:tag name="KSO_WM_DIAGRAM_VIRTUALLY_FRAME" val="{&quot;height&quot;:427.6490551181102,&quot;left&quot;:51.23740157480315,&quot;top&quot;:163.65291338582674,&quot;width&quot;:863.4073228346457}"/>
</p:tagLst>
</file>

<file path=ppt/tags/tag59.xml><?xml version="1.0" encoding="utf-8"?>
<p:tagLst xmlns:p="http://schemas.openxmlformats.org/presentationml/2006/main">
  <p:tag name="KSO_WM_DIAGRAM_VIRTUALLY_FRAME" val="{&quot;height&quot;:427.6490551181102,&quot;left&quot;:51.23740157480315,&quot;top&quot;:163.65291338582674,&quot;width&quot;:863.4073228346457}"/>
</p:tagLst>
</file>

<file path=ppt/tags/tag60.xml><?xml version="1.0" encoding="utf-8"?>
<p:tagLst xmlns:p="http://schemas.openxmlformats.org/presentationml/2006/main">
  <p:tag name="KSO_WM_DIAGRAM_VIRTUALLY_FRAME" val="{&quot;height&quot;:427.6490551181102,&quot;left&quot;:51.23740157480315,&quot;top&quot;:163.65291338582674,&quot;width&quot;:863.407322834645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1377</Words>
  <Application>WPS 演示</Application>
  <PresentationFormat>On-screen Show</PresentationFormat>
  <Paragraphs>118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华文行楷</vt:lpstr>
      <vt:lpstr>华文新魏</vt:lpstr>
      <vt:lpstr>AlimamaShuHeiTi</vt:lpstr>
      <vt:lpstr>ksdb</vt:lpstr>
      <vt:lpstr>微软雅黑</vt:lpstr>
      <vt:lpstr>OPPOSans-R</vt:lpstr>
      <vt:lpstr>华文楷体</vt:lpstr>
      <vt:lpstr>OPPOSans-B</vt:lpstr>
      <vt:lpstr>华文彩云</vt:lpstr>
      <vt:lpstr>OPPOSans-M</vt:lpstr>
      <vt:lpstr>Arial Unicode MS</vt:lpstr>
      <vt:lpstr>Calibri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稿定设计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稿定设计 ppt</dc:title>
  <dc:creator>稿定设计</dc:creator>
  <dc:subject>www.gaoding.com</dc:subject>
  <cp:lastModifiedBy>千年之狐</cp:lastModifiedBy>
  <cp:revision>4</cp:revision>
  <dcterms:created xsi:type="dcterms:W3CDTF">2025-09-23T08:22:00Z</dcterms:created>
  <dcterms:modified xsi:type="dcterms:W3CDTF">2026-09-26T05:58:27Z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126A61ECFD9542A59C4AD4AA4B5894AE_13</vt:lpwstr>
  </property>
  <property fmtid="{D5CDD505-2E9C-101B-9397-08002B2CF9AE}" pid="3" name="KSOProductBuildVer">
    <vt:lpwstr>2052-12.1.0.28505</vt:lpwstr>
  </property>
</Properties>
</file>